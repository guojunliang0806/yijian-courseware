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64008" cy="274320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011680" cy="38404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9202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📚 建设工程法规及相关知识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2860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200" b="1" i="0">
                <a:solidFill>
                  <a:srgbClr val="008CD7"/>
                </a:solidFill>
              </a:rPr>
              <a:t>FL-3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7772400" cy="11887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建设工程发承包法律制度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7772400" cy="2286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77724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E8ECF2"/>
                </a:solidFill>
              </a:rPr>
              <a:t>📅 2026年03月17日  星期二     进度：3/39  (8%)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0" i="0">
                <a:solidFill>
                  <a:srgbClr val="E8ECF2"/>
                </a:solidFill>
              </a:rPr>
              <a:t>一级建造师执业资格考试  ·  机电工程管理与实务方向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4114800"/>
            <a:ext cx="32004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32520" y="4114800"/>
            <a:ext cx="320040" cy="32004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45720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章节大纲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E8ECF2"/>
                </a:solidFill>
              </a:rPr>
              <a:t>建设工程法规及相关知识  ›  建设工程发承包法律制度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92608" cy="2926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170432"/>
            <a:ext cx="29260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招标投标制度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292608" cy="2926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" y="1828800"/>
            <a:ext cx="29260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01368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总承包制度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05456"/>
            <a:ext cx="292608" cy="2926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" y="2487168"/>
            <a:ext cx="29260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59736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联合体承包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188720"/>
            <a:ext cx="292608" cy="2926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170432"/>
            <a:ext cx="29260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14300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分包制度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847088"/>
            <a:ext cx="292608" cy="2926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828800"/>
            <a:ext cx="29260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801368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转包和违法分包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掌握大纲是学习的基础  ·  每个知识点都可能成为考点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45720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核心知识内容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建设工程发承包法律制度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8595360" cy="402336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42415"/>
            <a:ext cx="83210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一、必须招标的工程范围与规模标准（核心数字）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6576" cy="3474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55448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项目范围-来源①】全部或部分使用国有资金投资或者国家融资的项目——包括：使用预算资金200万元以上，且该资金占投资额10%以上；使用国有企事业单位自有资金，且国有资产投资者持股比例合计在50%以上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48256"/>
            <a:ext cx="36576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【项目范围-来源②】使用国际组织或外国政府贷款、援助资金的项目——世界银行、亚洲开发银行等贷款项目均须招标。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23744"/>
            <a:ext cx="36576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2505456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【项目范围-来源③】关系社会公共利益、公众安全的基础设施项目——煤炭、石油、天然气、电力、交通、邮电、水利、城市设施等。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99232"/>
            <a:ext cx="36576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980944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【规模标准①-施工】施工单项合同估算价在200万元人民币以上——低于200万元可不招标。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36576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3456432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【规模标准②-货物】重要设备、材料等货物的采购，单项合同估算价在100万元人民币以上。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50208"/>
            <a:ext cx="36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393192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【规模标准③-服务】勘察、设计、监理等服务的采购，单项合同估算价在50万元人民币以上。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25696"/>
            <a:ext cx="36576" cy="347472"/>
          </a:xfrm>
          <a:prstGeom prst="rect">
            <a:avLst/>
          </a:prstGeom>
          <a:solidFill>
            <a:srgbClr val="277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440740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【可不招标情形】涉及国家安全、国家秘密；抢险救灾；利用扶贫资金实行以工代赈、需要使用农村劳动力；合同估算价低于规定规模标准的；技术复杂或专有技术只能从少数潜在投标人处采购的。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第 1 部分  ·  请结合教材深入理解记忆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45720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核心知识内容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建设工程发承包法律制度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8595360" cy="402336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42415"/>
            <a:ext cx="83210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二、招标方式与招标程序（公开招标为主）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6576" cy="3474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55448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【招标方式】公开招标：向不特定社会公众发布公告；邀请招标：向3家以上特定潜在投标人发出邀请书。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48256"/>
            <a:ext cx="36576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依法必须公开招标的例外】依法必须招标的项目，经批准可用邀请招标的情形：技术复杂或有特殊要求，只有少量潜在投标人可供选择；受自然地域环境限制；涉及国家安全、国家秘密或抢险救灾；拟公开招标的费用与项目价值不匹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23744"/>
            <a:ext cx="36576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2505456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【招标公告发布】公开招标须在国家指定媒介发布招标公告，招标公告须载明招标人名称地址、项目概况、资格要求、获取文件方式等。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99232"/>
            <a:ext cx="36576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980944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【投标有效期】自投标截止之日起计算，招标文件须载明；有效期内投标人不得撤回投标文件（否则没收保证金）。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36576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3456432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【招标文件澄清与修改】招标人对已发出的招标文件进行澄清或修改的，须在投标截止时间至少15日前通知所有潜在投标人；不足15日的须顺延投标截止时间。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50208"/>
            <a:ext cx="36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393192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【开标】开标应在招标文件规定时间、地点公开进行；投标人或代表到场；当众开封唱标——唱报投标人名称、投标价格、其他重要内容。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25696"/>
            <a:ext cx="36576" cy="347472"/>
          </a:xfrm>
          <a:prstGeom prst="rect">
            <a:avLst/>
          </a:prstGeom>
          <a:solidFill>
            <a:srgbClr val="277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440740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【否决投标情形】未按招标文件要求密封；逾期送达；投标人不具备资格；未缴保证金；串通投标或以他人名义投标等。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第 2 部分  ·  请结合教材深入理解记忆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45720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核心知识内容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建设工程发承包法律制度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8595360" cy="402336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42415"/>
            <a:ext cx="83210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三、投标保证金与履约保证金（数字重点）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6576" cy="3474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55448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【投标保证金金额】不得超过招标项目估算价的2%，且不超过80万元人民币。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48256"/>
            <a:ext cx="36576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【投标保证金退还】①中标人：签订合同后退还；②未中标人：中标通知书发出后5日内退还；③逾期退还须按银行同期贷款利率付息。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23744"/>
            <a:ext cx="36576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2505456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【没收保证金情形】在投标有效期内撤回投标文件；中标后无正当理由不签合同；不按要求提交履约保证金。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99232"/>
            <a:ext cx="36576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980944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【履约保证金】中标人须在签订合同时提交；金额不超过中标合同价款的10%。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36576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3456432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【递延签约期】自发出中标通知书之日起30日内，招标人与中标人签订书面合同；不得在招标文件之外另行提出条件。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50208"/>
            <a:ext cx="36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393192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【同等条件优先】评标时同等条件下，本地投标人或产品不得享有优惠（禁止地方保护主义）。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第 3 部分  ·  请结合教材深入理解记忆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45720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核心知识内容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建设工程发承包法律制度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8595360" cy="402336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42415"/>
            <a:ext cx="83210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四、评标委员会与中标（评标关键规则）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6576" cy="3474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55448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【评标委员会组成】由招标人代表和有关技术、经济等方面的专家组成，总人数5人以上单数；其中技术、经济专家不得少于成员总数的2/3。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48256"/>
            <a:ext cx="36576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【专家回避】与投标人有利害关系的专家不得进入评标委员会；招标人的代表不得超过成员总数的1/3。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23744"/>
            <a:ext cx="36576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2505456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【禁止事项】评标委员会成员须签保密协议；不得接受投标人的馈赠；不得透漏评标情况。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99232"/>
            <a:ext cx="36576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980944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【评标报告】评标委员会完成评标后向招标人提出书面评标报告，推荐不超过3个中标候选人并排序。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36576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3456432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【中标人确定】招标人根据评标委员会推荐的中标候选人确定中标人；一般应确定排名第一的候选人为中标人；特殊情况可选排名第二、三的。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50208"/>
            <a:ext cx="36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393192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【中标通知书】招标人确定中标人后应在15日内向中标人发出中标通知书，同时通知未中标人；中标通知书对招标人、中标人均具法律约束力。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25696"/>
            <a:ext cx="36576" cy="347472"/>
          </a:xfrm>
          <a:prstGeom prst="rect">
            <a:avLst/>
          </a:prstGeom>
          <a:solidFill>
            <a:srgbClr val="277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440740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【中标无效情形】串通投标；虚假招标；以行贿等非法手段中标；超越资质等级；转让中标项目等，中标无效。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第 4 部分  ·  请结合教材深入理解记忆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45720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核心知识内容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建设工程发承包法律制度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8595360" cy="402336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42415"/>
            <a:ext cx="83210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五、联合体投标（重点考点）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6576" cy="3474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55448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【定义】两个以上法人或其他组织以一个投标人的身份共同投标，称为联合体投标。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48256"/>
            <a:ext cx="36576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【资质要求】联合体各方须具备承担招标项目的相应资格条件；由相同专业的单位组成联合体的，按资质等级较低的单位确定联合体资质等级（就低原则）。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23744"/>
            <a:ext cx="36576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2505456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【禁止重复投标】同一专业的单位组成联合体后，不得再单独投标或参与其他联合体投标同一项目。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99232"/>
            <a:ext cx="36576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980944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【联合体协议】联合体各方须签订共同投标协议，明确牵头人及各方权利义务；联合体协议书须与投标文件一并提交给招标人。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36576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3456432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【连带责任】联合体中标后，联合体各方就中标项目向招标人承担连带责任——任何一方违约，其他方须负连带赔偿责任。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50208"/>
            <a:ext cx="36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393192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【投标保证金】以联合体名义提交，视为联合体各方的共同保证金。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25696"/>
            <a:ext cx="36576" cy="347472"/>
          </a:xfrm>
          <a:prstGeom prst="rect">
            <a:avLst/>
          </a:prstGeom>
          <a:solidFill>
            <a:srgbClr val="277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440740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【与分包的区别】联合体是共同参与投标；分包是中标后将部分工作交给其他单位（须满足分包条件）。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第 5 部分  ·  请结合教材深入理解记忆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45720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核心知识内容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建设工程发承包法律制度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8595360" cy="402336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42415"/>
            <a:ext cx="83210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六、总承包、分包与转包（违法情形详解）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6576" cy="3474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55448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【总承包制度】建设单位可将工程发包给一个总承包单位，由其统一组织实施；也可将各部分工程发包给各自对应资质的企业（平行发包）。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48256"/>
            <a:ext cx="36576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【合法分包条件】①须经建设单位认可；②分包单位须具备相应资质；③主体结构不得分包；④分包合同须报建设单位备案。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23744"/>
            <a:ext cx="36576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2505456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【违法分包4种情形】①总承包单位将工程分包给不具备相应资质的单位；②未经建设单位认可擅自分包；③总承包单位将主体结构施工分包给其他单位；④分包单位将承包的工程再次分包（转分包）。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99232"/>
            <a:ext cx="36576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980944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【转包定义】承包单位将全部工程或主体工程转让给其他单位，自己不承担管理责任，属于严重违法行为。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36576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3456432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【转包与违法分包的区别】转包：将全部或主要工程转给他人，自己抽身；违法分包：分包给无资质单位或未经认可，或分包主体结构。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50208"/>
            <a:ext cx="36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393192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【转包的法律后果】没收违法所得；处以合同价款0.5%~1%的罚款；限期整改；情节严重吊销资质证书。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25696"/>
            <a:ext cx="36576" cy="347472"/>
          </a:xfrm>
          <a:prstGeom prst="rect">
            <a:avLst/>
          </a:prstGeom>
          <a:solidFill>
            <a:srgbClr val="277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440740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【违法分包的法律后果】没收违法所得；处以合同价款0.5%~1%的罚款；可责令停业整顿；情节严重降低资质等级或吊销资质。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第 6 部分  ·  请结合教材深入理解记忆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45720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核心知识内容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建设工程发承包法律制度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8595360" cy="402336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42415"/>
            <a:ext cx="83210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七、串通投标与弄虚作假（禁止行为+法律责任）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6576" cy="3474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55448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【投标人串通情形①】相互约定抬高或压低投标报价；②相互约定在招标项目中轮流中标；③在一个投标人投标前，约定其他投标人放弃投标或不得中标；④投标人之间私下接触，泄露投标报价等信息。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48256"/>
            <a:ext cx="36576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【招标人与投标人串通情形】招标人向投标人泄露标底、评标委员成员信息；招标人明示或暗示投标人压低报价；招标人与投标人约定中标条件、价格等。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23744"/>
            <a:ext cx="36576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2505456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【弄虚作假情形】提供虚假业绩、资质；伪造项目经理证书；以他人名义投标（借用资质）；围标（一人操控多家公司投标）。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99232"/>
            <a:ext cx="36576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980944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【串通投标法律后果】中标无效；没收违法所得；处以中标项目金额5‰以上10‰以下的罚款；情节严重吊销资质；构成犯罪的追究刑事责任。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36576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3456432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【借用资质（以他人名义投标）后果】中标无效；没收违法所得；处以中标金额5‰~10‰罚款；情节严重吊销营业执照。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50208"/>
            <a:ext cx="36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393192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【记忆口诀】串通弄虚：中标无效+没收违法所得+5‰~10‰罚款+严重吊销资质/执照。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第 7 部分  ·  请结合教材深入理解记忆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45720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核心知识内容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建设工程发承包法律制度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8595360" cy="402336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42415"/>
            <a:ext cx="83210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八、高频考点速记总结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6576" cy="3474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55448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【三个金额门槛】施工200万、货物100万、服务50万（依次减半）。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48256"/>
            <a:ext cx="36576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【评标委员会】5人以上单数；技术经济专家≥2/3；招标人代表≤1/3。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23744"/>
            <a:ext cx="36576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2505456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【投标保证金】≤估算价2%，且≤80万元；中标通知书发出后5日内退还未中标人。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99232"/>
            <a:ext cx="36576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980944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【履约保证金】≤中标合同价款10%；签合同时提交。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36576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3456432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【中标通知书】15日内发出；30日内签合同。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50208"/>
            <a:ext cx="36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393192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【联合体就低原则】同专业联合体按最低资质等级确定；联合体各方承担连带责任。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25696"/>
            <a:ext cx="36576" cy="347472"/>
          </a:xfrm>
          <a:prstGeom prst="rect">
            <a:avLst/>
          </a:prstGeom>
          <a:solidFill>
            <a:srgbClr val="277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440740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【违法分包4种】无资质+未认可+主体结构+转分包。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第 8 部分  ·  请结合教材深入理解记忆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64008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⭐ 本章考点速记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建设工程发承包法律制度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42062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54864" cy="8046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060704"/>
            <a:ext cx="34747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008CD7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60704"/>
            <a:ext cx="3657599" cy="713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必须招标的工程范围和规模标准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965960"/>
            <a:ext cx="42062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965960"/>
            <a:ext cx="54864" cy="8046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2020824"/>
            <a:ext cx="34747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008CD7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20824"/>
            <a:ext cx="3657599" cy="713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招标投标程序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9" y="1005840"/>
            <a:ext cx="42062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59" y="1005840"/>
            <a:ext cx="54864" cy="8046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1060704"/>
            <a:ext cx="34747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1060704"/>
            <a:ext cx="3657599" cy="713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联合体投标的规定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59" y="1965960"/>
            <a:ext cx="42062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59" y="1965960"/>
            <a:ext cx="54864" cy="8046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8888" y="2020824"/>
            <a:ext cx="34747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59" y="2020824"/>
            <a:ext cx="3657599" cy="713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违法分包的情形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946904"/>
            <a:ext cx="859536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 i="0">
                <a:solidFill>
                  <a:srgbClr val="925700"/>
                </a:solidFill>
              </a:rPr>
              <a:t>💡 以上考点请重点记忆，历年考试高频出现！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1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64008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📝 历年真题精选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建设工程发承包法律制度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87552"/>
            <a:ext cx="86868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33272"/>
            <a:ext cx="1005840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033272"/>
            <a:ext cx="987552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2025 单选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033272"/>
            <a:ext cx="8686800" cy="502920"/>
          </a:xfrm>
          <a:prstGeom prst="rect">
            <a:avLst/>
          </a:prstGeom>
          <a:noFill/>
        </p:spPr>
        <p:txBody>
          <a:bodyPr wrap="square" lIns="1051560" tIns="27432" rIns="1051560" bIns="27432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【1】根据《招标投标法实施条例》，依法必须进行招标的项目，招标人发出中标通知书后，应在多少日内与中标人签订书面合同？（  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36192"/>
            <a:ext cx="8412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A. 15日    B. 20日
    C. 30日    D. 60日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103120"/>
            <a:ext cx="8686800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103120"/>
            <a:ext cx="64008" cy="51206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121408"/>
            <a:ext cx="8412480" cy="475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145A2E"/>
                </a:solidFill>
              </a:rPr>
              <a:t>✔ 答案：C　　《招标投标法》规定：招标人和中标人应当自中标通知书发出之日起30日内，按照招标文件和中标人的投标文件订立书面合同。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816352"/>
            <a:ext cx="86868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862072"/>
            <a:ext cx="1005840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" y="2862072"/>
            <a:ext cx="987552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2025 单选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862072"/>
            <a:ext cx="8686800" cy="502920"/>
          </a:xfrm>
          <a:prstGeom prst="rect">
            <a:avLst/>
          </a:prstGeom>
          <a:noFill/>
        </p:spPr>
        <p:txBody>
          <a:bodyPr wrap="square" lIns="1051560" tIns="27432" rIns="1051560" bIns="27432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【2】关于投标保证金，下列说法正确的是（  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364992"/>
            <a:ext cx="8412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A. 投标保证金不得超过中标合同价款的10%    B. 投标保证金不得超过招标项目估算价的2%，且最高不超过80万元
    C. 投标保证金须在开标前缴纳，金额不超过50万元    D. 投标保证金须在中标通知书发出后30日内退还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931920"/>
            <a:ext cx="8686800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931920"/>
            <a:ext cx="64008" cy="51206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950208"/>
            <a:ext cx="8412480" cy="475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145A2E"/>
                </a:solidFill>
              </a:rPr>
              <a:t>✔ 答案：B　　投标保证金金额不得超过招标项目估算价的2%，且不得超过80万元。A是履约保证金规定。D错误，未中标人的保证金在中标通知书发出后5日内退还。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946904"/>
            <a:ext cx="859536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 i="0">
                <a:solidFill>
                  <a:srgbClr val="8B4000"/>
                </a:solidFill>
              </a:rPr>
              <a:t>🔥 真题是最好的考点指南，建议反复练习！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1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64008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📝 历年真题精选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建设工程发承包法律制度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87552"/>
            <a:ext cx="868680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33272"/>
            <a:ext cx="1005840" cy="274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033272"/>
            <a:ext cx="987552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2025 多选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033272"/>
            <a:ext cx="8686800" cy="502920"/>
          </a:xfrm>
          <a:prstGeom prst="rect">
            <a:avLst/>
          </a:prstGeom>
          <a:noFill/>
        </p:spPr>
        <p:txBody>
          <a:bodyPr wrap="square" lIns="1051560" tIns="27432" rIns="1051560" bIns="27432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【3】根据《招标投标法》，下列属于串通投标行为的有（  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36192"/>
            <a:ext cx="8412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A. 招标人向某投标人泄露了标底    B. 投标人之间约定轮流中标
    C. 投标人之间约定一致抬高报价    D. 招标人对招标文件进行合法澄清    E. 多家投标人委托同一代理机构代理投标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103120"/>
            <a:ext cx="8686800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103120"/>
            <a:ext cx="64008" cy="51206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121408"/>
            <a:ext cx="8412480" cy="475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145A2E"/>
                </a:solidFill>
              </a:rPr>
              <a:t>✔ 答案：ABC　　A是招标人与投标人串通；B、C是投标人相互串通。D是合法行为。E虽有疑点但法律上委托同一代理机构本身不属于串通行为，除非有串通事实。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816352"/>
            <a:ext cx="868680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862072"/>
            <a:ext cx="1005840" cy="274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" y="2862072"/>
            <a:ext cx="987552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2025 多选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862072"/>
            <a:ext cx="8686800" cy="502920"/>
          </a:xfrm>
          <a:prstGeom prst="rect">
            <a:avLst/>
          </a:prstGeom>
          <a:noFill/>
        </p:spPr>
        <p:txBody>
          <a:bodyPr wrap="square" lIns="1051560" tIns="27432" rIns="1051560" bIns="27432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【4】根据有关规定，下列情形中，属于违法分包的有（  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364992"/>
            <a:ext cx="8412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A. 总承包单位将主体结构施工分包给专业公司    B. 经建设单位认可，将专业工程分包给有资质的单位
    C. 分包单位将承包的工程再次分包给其他单位    D. 未经建设单位认可擅自将工程分包    E. 将工程分包给不具备相应资质的单位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931920"/>
            <a:ext cx="8686800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931920"/>
            <a:ext cx="64008" cy="51206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950208"/>
            <a:ext cx="8412480" cy="475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145A2E"/>
                </a:solidFill>
              </a:rPr>
              <a:t>✔ 答案：ACDE　　B是合法分包（经建设单位认可且分包单位有资质）。A主体结构不得分包；C转分包；D未经认可；E无资质单位——均属违法分包。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946904"/>
            <a:ext cx="859536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 i="0">
                <a:solidFill>
                  <a:srgbClr val="8B4000"/>
                </a:solidFill>
              </a:rPr>
              <a:t>🔥 真题是最好的考点指南，建议反复练习！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1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64008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📝 历年真题精选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建设工程发承包法律制度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87552"/>
            <a:ext cx="86868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33272"/>
            <a:ext cx="1005840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033272"/>
            <a:ext cx="987552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2024 单选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033272"/>
            <a:ext cx="8686800" cy="502920"/>
          </a:xfrm>
          <a:prstGeom prst="rect">
            <a:avLst/>
          </a:prstGeom>
          <a:noFill/>
        </p:spPr>
        <p:txBody>
          <a:bodyPr wrap="square" lIns="1051560" tIns="27432" rIns="1051560" bIns="27432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【5】根据《招标投标法》，评标委员会由招标人代表和有关专家组成，其中技术、经济专家不少于成员总数的（  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36192"/>
            <a:ext cx="8412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A. 1/2    B. 2/3
    C. 3/4    D. 4/5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103120"/>
            <a:ext cx="8686800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103120"/>
            <a:ext cx="64008" cy="51206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121408"/>
            <a:ext cx="8412480" cy="475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145A2E"/>
                </a:solidFill>
              </a:rPr>
              <a:t>✔ 答案：B　　评标委员会由5人以上单数组成，技术、经济专家不少于成员总数的2/3。招标人代表不超过1/3。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816352"/>
            <a:ext cx="86868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862072"/>
            <a:ext cx="1005840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" y="2862072"/>
            <a:ext cx="987552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2024 单选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862072"/>
            <a:ext cx="8686800" cy="502920"/>
          </a:xfrm>
          <a:prstGeom prst="rect">
            <a:avLst/>
          </a:prstGeom>
          <a:noFill/>
        </p:spPr>
        <p:txBody>
          <a:bodyPr wrap="square" lIns="1051560" tIns="27432" rIns="1051560" bIns="27432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【6】某施工总承包单位中标后，与分包单位签订分包合同，将全部工程交由分包单位实施，自己不履行任何管理职责，该行为属于（  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364992"/>
            <a:ext cx="8412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A. 合法的专业分包    B. 违法分包
    C. 转包    D. 联合体承包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931920"/>
            <a:ext cx="8686800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931920"/>
            <a:ext cx="64008" cy="51206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950208"/>
            <a:ext cx="8412480" cy="475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145A2E"/>
                </a:solidFill>
              </a:rPr>
              <a:t>✔ 答案：C　　将全部工程转让给其他单位施工，自己不承担任何管理职责，属于转包行为，是严重违法行为。转包与分包的区别：分包是部分工程；转包是全部或主要工程的转让。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946904"/>
            <a:ext cx="859536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 i="0">
                <a:solidFill>
                  <a:srgbClr val="8B4000"/>
                </a:solidFill>
              </a:rPr>
              <a:t>🔥 真题是最好的考点指南，建议反复练习！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1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64008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📝 历年真题精选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建设工程发承包法律制度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87552"/>
            <a:ext cx="868680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33272"/>
            <a:ext cx="1005840" cy="274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033272"/>
            <a:ext cx="987552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2024 多选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033272"/>
            <a:ext cx="8686800" cy="502920"/>
          </a:xfrm>
          <a:prstGeom prst="rect">
            <a:avLst/>
          </a:prstGeom>
          <a:noFill/>
        </p:spPr>
        <p:txBody>
          <a:bodyPr wrap="square" lIns="1051560" tIns="27432" rIns="1051560" bIns="27432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【7】根据《招标投标法》，关于联合体投标，下列说法正确的有（  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36192"/>
            <a:ext cx="8412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A. 联合体各方须均具备承担招标项目的资格    B. 相同专业的单位组成联合体按资质等级较高者确定资质
    C. 联合体各方就中标项目向招标人承担连带责任    D. 联合体协议书须与投标文件一并提交    E. 已组成联合体的单位不得再单独投标同一项目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103120"/>
            <a:ext cx="8686800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103120"/>
            <a:ext cx="64008" cy="51206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121408"/>
            <a:ext cx="8412480" cy="475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145A2E"/>
                </a:solidFill>
              </a:rPr>
              <a:t>✔ 答案：ACDE　　B错误，相同专业组成联合体按资质等级【较低者】确定资质等级（就低不就高）。A、C、D、E均正确。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816352"/>
            <a:ext cx="86868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862072"/>
            <a:ext cx="1005840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" y="2862072"/>
            <a:ext cx="987552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2023 单选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862072"/>
            <a:ext cx="8686800" cy="502920"/>
          </a:xfrm>
          <a:prstGeom prst="rect">
            <a:avLst/>
          </a:prstGeom>
          <a:noFill/>
        </p:spPr>
        <p:txBody>
          <a:bodyPr wrap="square" lIns="1051560" tIns="27432" rIns="1051560" bIns="27432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【8】根据相关规定，施工单项合同估算价在（  ）万元以上的建设工程，必须进行招标。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364992"/>
            <a:ext cx="8412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A. 50    B. 100
    C. 150    D. 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931920"/>
            <a:ext cx="8686800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931920"/>
            <a:ext cx="64008" cy="51206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950208"/>
            <a:ext cx="8412480" cy="475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145A2E"/>
                </a:solidFill>
              </a:rPr>
              <a:t>✔ 答案：D　　三个规模标准：施工≥200万、货物采购≥100万、服务采购≥50万。施工门槛最高为200万元。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946904"/>
            <a:ext cx="859536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 i="0">
                <a:solidFill>
                  <a:srgbClr val="8B4000"/>
                </a:solidFill>
              </a:rPr>
              <a:t>🔥 真题是最好的考点指南，建议反复练习！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1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64008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📝 历年真题精选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建设工程发承包法律制度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87552"/>
            <a:ext cx="86868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33272"/>
            <a:ext cx="1005840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033272"/>
            <a:ext cx="987552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2023 单选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033272"/>
            <a:ext cx="8686800" cy="502920"/>
          </a:xfrm>
          <a:prstGeom prst="rect">
            <a:avLst/>
          </a:prstGeom>
          <a:noFill/>
        </p:spPr>
        <p:txBody>
          <a:bodyPr wrap="square" lIns="1051560" tIns="27432" rIns="1051560" bIns="27432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【9】招标人对已发出的招标文件进行必要的澄清或修改的，应当在投标截止时间至少（  ）日前，通知所有潜在投标人。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36192"/>
            <a:ext cx="8412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A. 5    B. 10
    C. 15    D. 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103120"/>
            <a:ext cx="8686800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103120"/>
            <a:ext cx="64008" cy="51206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121408"/>
            <a:ext cx="8412480" cy="475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145A2E"/>
                </a:solidFill>
              </a:rPr>
              <a:t>✔ 答案：C　　《招标投标法实施条例》规定：澄清或修改须在投标截止时间至少15日前通知所有潜在投标人；不足15日须顺延投标截止时间。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816352"/>
            <a:ext cx="868680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862072"/>
            <a:ext cx="1005840" cy="274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" y="2862072"/>
            <a:ext cx="987552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2023 多选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862072"/>
            <a:ext cx="8686800" cy="502920"/>
          </a:xfrm>
          <a:prstGeom prst="rect">
            <a:avLst/>
          </a:prstGeom>
          <a:noFill/>
        </p:spPr>
        <p:txBody>
          <a:bodyPr wrap="square" lIns="1051560" tIns="27432" rIns="1051560" bIns="27432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【10】根据《招标投标法》，中标无效的情形包括（  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364992"/>
            <a:ext cx="8412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A. 投标人串通投标    B. 投标人以行贿等非法手段中标
    C. 中标人资质等级不满足项目要求    D. 中标合同价格与投标价格不符    E. 中标人将中标项目全部转包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931920"/>
            <a:ext cx="8686800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931920"/>
            <a:ext cx="64008" cy="51206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950208"/>
            <a:ext cx="8412480" cy="475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145A2E"/>
                </a:solidFill>
              </a:rPr>
              <a:t>✔ 答案：ABCE　　D不是中标无效的原因（可能是合同纠纷）。A串通投标；B行贿中标；C超越资质；E转包均可导致中标无效。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946904"/>
            <a:ext cx="859536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 i="0">
                <a:solidFill>
                  <a:srgbClr val="8B4000"/>
                </a:solidFill>
              </a:rPr>
              <a:t>🔥 真题是最好的考点指南，建议反复练习！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1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64008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📝 历年真题精选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建设工程发承包法律制度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87552"/>
            <a:ext cx="86868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33272"/>
            <a:ext cx="1005840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033272"/>
            <a:ext cx="987552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2023 单选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033272"/>
            <a:ext cx="8686800" cy="502920"/>
          </a:xfrm>
          <a:prstGeom prst="rect">
            <a:avLst/>
          </a:prstGeom>
          <a:noFill/>
        </p:spPr>
        <p:txBody>
          <a:bodyPr wrap="square" lIns="1051560" tIns="27432" rIns="1051560" bIns="27432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【11】根据《招标投标法》，投标人之间相互约定，一致抬高或者压低投标报价的行为，属于（  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36192"/>
            <a:ext cx="8412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A. 合法的市场竞争行为    B. 串通投标
    C. 弄虚作假    D. 联合体投标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103120"/>
            <a:ext cx="8686800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103120"/>
            <a:ext cx="64008" cy="51206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121408"/>
            <a:ext cx="8412480" cy="475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145A2E"/>
                </a:solidFill>
              </a:rPr>
              <a:t>✔ 答案：B　　投标人之间相互约定抬高或压低报价，是典型的串通投标行为，违反《招标投标法》第32条，中标无效，处以中标项目金额5‰~10‰罚款。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946904"/>
            <a:ext cx="859536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 i="0">
                <a:solidFill>
                  <a:srgbClr val="8B4000"/>
                </a:solidFill>
              </a:rPr>
              <a:t>🔥 真题是最好的考点指南，建议反复练习！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今日学习小结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600" b="0" i="0">
                <a:solidFill>
                  <a:srgbClr val="008CD7"/>
                </a:solidFill>
              </a:rPr>
              <a:t>建设工程发承包法律制度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2194560" cy="1143000"/>
          </a:xfrm>
          <a:prstGeom prst="rect">
            <a:avLst/>
          </a:prstGeom>
          <a:solidFill>
            <a:srgbClr val="2A3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25880"/>
            <a:ext cx="219456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3800" b="1" i="0">
                <a:solidFill>
                  <a:srgbClr val="008CD7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1945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0" i="0">
                <a:solidFill>
                  <a:srgbClr val="E8ECF2"/>
                </a:solidFill>
              </a:rPr>
              <a:t>个考点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325880"/>
            <a:ext cx="2194560" cy="1143000"/>
          </a:xfrm>
          <a:prstGeom prst="rect">
            <a:avLst/>
          </a:prstGeom>
          <a:solidFill>
            <a:srgbClr val="2A3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325880"/>
            <a:ext cx="219456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46304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3800" b="1" i="0">
                <a:solidFill>
                  <a:srgbClr val="FFA500"/>
                </a:solidFill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57400"/>
            <a:ext cx="21945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0" i="0">
                <a:solidFill>
                  <a:srgbClr val="E8ECF2"/>
                </a:solidFill>
              </a:rPr>
              <a:t>道真题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25880"/>
            <a:ext cx="2194560" cy="1143000"/>
          </a:xfrm>
          <a:prstGeom prst="rect">
            <a:avLst/>
          </a:prstGeom>
          <a:solidFill>
            <a:srgbClr val="2A3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325880"/>
            <a:ext cx="2194560" cy="6400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3800" b="1" i="0">
                <a:solidFill>
                  <a:srgbClr val="2E8648"/>
                </a:solidFill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57400"/>
            <a:ext cx="21945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0" i="0">
                <a:solidFill>
                  <a:srgbClr val="E8ECF2"/>
                </a:solidFill>
              </a:rPr>
              <a:t>分目标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51760"/>
            <a:ext cx="8229600" cy="347472"/>
          </a:xfrm>
          <a:prstGeom prst="rect">
            <a:avLst/>
          </a:prstGeom>
          <a:solidFill>
            <a:srgbClr val="283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70048"/>
            <a:ext cx="365760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📋 本章学习要点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63240"/>
            <a:ext cx="78638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E8ECF2"/>
                </a:solidFill>
              </a:rPr>
              <a:t>✓ 科目：建设工程法规及相关知识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392424"/>
            <a:ext cx="78638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E8ECF2"/>
                </a:solidFill>
              </a:rPr>
              <a:t>✓ 章节：建设工程发承包法律制度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21608"/>
            <a:ext cx="78638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E8ECF2"/>
                </a:solidFill>
              </a:rPr>
              <a:t>✓ 掌握 4 个核心考点，完成 11 道真题练习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50792"/>
            <a:ext cx="78638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E8ECF2"/>
                </a:solidFill>
              </a:rPr>
              <a:t>✓ 建议：配合教材反复复习，注意与真题对照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690872"/>
            <a:ext cx="85953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0" i="0">
                <a:solidFill>
                  <a:srgbClr val="E8ECF2"/>
                </a:solidFill>
              </a:rPr>
              <a:t>📊 学习进度：进度：3/39  (8%)     ⏰ 晚上复习时间提醒！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
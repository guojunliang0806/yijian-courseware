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914400"/>
            <a:ext cx="64008" cy="2743200"/>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914400"/>
            <a:ext cx="2011680" cy="38404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932688"/>
            <a:ext cx="1920240" cy="347472"/>
          </a:xfrm>
          <a:prstGeom prst="rect">
            <a:avLst/>
          </a:prstGeom>
          <a:noFill/>
        </p:spPr>
        <p:txBody>
          <a:bodyPr wrap="square" lIns="45720" tIns="27432" rIns="45720" bIns="27432">
            <a:spAutoFit/>
          </a:bodyPr>
          <a:lstStyle/>
          <a:p>
            <a:pPr algn="l"/>
            <a:r>
              <a:rPr sz="1300" b="1" i="0">
                <a:solidFill>
                  <a:srgbClr val="FFFFFF"/>
                </a:solidFill>
              </a:rPr>
              <a:t>📚 建设工程法规及相关知识</a:t>
            </a:r>
          </a:p>
        </p:txBody>
      </p:sp>
      <p:sp>
        <p:nvSpPr>
          <p:cNvPr id="6" name="TextBox 5"/>
          <p:cNvSpPr txBox="1"/>
          <p:nvPr/>
        </p:nvSpPr>
        <p:spPr>
          <a:xfrm>
            <a:off x="548640" y="1463040"/>
            <a:ext cx="2286000" cy="457200"/>
          </a:xfrm>
          <a:prstGeom prst="rect">
            <a:avLst/>
          </a:prstGeom>
          <a:noFill/>
        </p:spPr>
        <p:txBody>
          <a:bodyPr wrap="square" lIns="45720" tIns="27432" rIns="45720" bIns="27432">
            <a:spAutoFit/>
          </a:bodyPr>
          <a:lstStyle/>
          <a:p>
            <a:pPr algn="l"/>
            <a:r>
              <a:rPr sz="2200" b="1" i="0">
                <a:solidFill>
                  <a:srgbClr val="008CD7"/>
                </a:solidFill>
              </a:rPr>
              <a:t>FL-4</a:t>
            </a:r>
          </a:p>
        </p:txBody>
      </p:sp>
      <p:sp>
        <p:nvSpPr>
          <p:cNvPr id="7" name="TextBox 6"/>
          <p:cNvSpPr txBox="1"/>
          <p:nvPr/>
        </p:nvSpPr>
        <p:spPr>
          <a:xfrm>
            <a:off x="548640" y="1874519"/>
            <a:ext cx="7772400" cy="1188720"/>
          </a:xfrm>
          <a:prstGeom prst="rect">
            <a:avLst/>
          </a:prstGeom>
          <a:noFill/>
        </p:spPr>
        <p:txBody>
          <a:bodyPr wrap="square" lIns="45720" tIns="27432" rIns="45720" bIns="27432">
            <a:spAutoFit/>
          </a:bodyPr>
          <a:lstStyle/>
          <a:p>
            <a:pPr algn="l"/>
            <a:r>
              <a:rPr sz="3400" b="1" i="0">
                <a:solidFill>
                  <a:srgbClr val="FFFFFF"/>
                </a:solidFill>
              </a:rPr>
              <a:t>建设工程合同和劳动合同法律制度</a:t>
            </a:r>
          </a:p>
        </p:txBody>
      </p:sp>
      <p:sp>
        <p:nvSpPr>
          <p:cNvPr id="8" name="Rectangle 7"/>
          <p:cNvSpPr/>
          <p:nvPr/>
        </p:nvSpPr>
        <p:spPr>
          <a:xfrm>
            <a:off x="548640" y="3154680"/>
            <a:ext cx="7772400" cy="22860"/>
          </a:xfrm>
          <a:prstGeom prst="rect">
            <a:avLst/>
          </a:prstGeom>
          <a:solidFill>
            <a:srgbClr val="6B7A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91840"/>
            <a:ext cx="7772400" cy="365760"/>
          </a:xfrm>
          <a:prstGeom prst="rect">
            <a:avLst/>
          </a:prstGeom>
          <a:noFill/>
        </p:spPr>
        <p:txBody>
          <a:bodyPr wrap="square" lIns="45720" tIns="27432" rIns="45720" bIns="27432">
            <a:spAutoFit/>
          </a:bodyPr>
          <a:lstStyle/>
          <a:p>
            <a:pPr algn="l"/>
            <a:r>
              <a:rPr sz="1300" b="0" i="0">
                <a:solidFill>
                  <a:srgbClr val="E8ECF2"/>
                </a:solidFill>
              </a:rPr>
              <a:t>📅 2026年03月19日  星期四     进度：4/39  (10%)</a:t>
            </a:r>
          </a:p>
        </p:txBody>
      </p:sp>
      <p:sp>
        <p:nvSpPr>
          <p:cNvPr id="10" name="Rectangle 9"/>
          <p:cNvSpPr/>
          <p:nvPr/>
        </p:nvSpPr>
        <p:spPr>
          <a:xfrm>
            <a:off x="0" y="4663440"/>
            <a:ext cx="9144000" cy="480060"/>
          </a:xfrm>
          <a:prstGeom prst="rect">
            <a:avLst/>
          </a:prstGeom>
          <a:solidFill>
            <a:srgbClr val="16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681728"/>
            <a:ext cx="8229600" cy="438912"/>
          </a:xfrm>
          <a:prstGeom prst="rect">
            <a:avLst/>
          </a:prstGeom>
          <a:noFill/>
        </p:spPr>
        <p:txBody>
          <a:bodyPr wrap="square" lIns="45720" tIns="27432" rIns="45720" bIns="27432">
            <a:spAutoFit/>
          </a:bodyPr>
          <a:lstStyle/>
          <a:p>
            <a:pPr algn="ctr"/>
            <a:r>
              <a:rPr sz="1300" b="0" i="0">
                <a:solidFill>
                  <a:srgbClr val="E8ECF2"/>
                </a:solidFill>
              </a:rPr>
              <a:t>一级建造师执业资格考试  ·  机电工程管理与实务方向</a:t>
            </a:r>
          </a:p>
        </p:txBody>
      </p:sp>
      <p:sp>
        <p:nvSpPr>
          <p:cNvPr id="12" name="Rectangle 11"/>
          <p:cNvSpPr/>
          <p:nvPr/>
        </p:nvSpPr>
        <p:spPr>
          <a:xfrm>
            <a:off x="8412480" y="4114800"/>
            <a:ext cx="320040" cy="3200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4114800"/>
            <a:ext cx="320040" cy="320040"/>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4572000" cy="411480"/>
          </a:xfrm>
          <a:prstGeom prst="rect">
            <a:avLst/>
          </a:prstGeom>
          <a:noFill/>
        </p:spPr>
        <p:txBody>
          <a:bodyPr wrap="square" lIns="45720" tIns="27432" rIns="45720" bIns="27432">
            <a:spAutoFit/>
          </a:bodyPr>
          <a:lstStyle/>
          <a:p>
            <a:pPr algn="l"/>
            <a:r>
              <a:rPr sz="2200" b="1" i="0">
                <a:solidFill>
                  <a:srgbClr val="FFFFFF"/>
                </a:solidFill>
              </a:rPr>
              <a:t>章节大纲</a:t>
            </a:r>
          </a:p>
        </p:txBody>
      </p:sp>
      <p:sp>
        <p:nvSpPr>
          <p:cNvPr id="5" name="TextBox 4"/>
          <p:cNvSpPr txBox="1"/>
          <p:nvPr/>
        </p:nvSpPr>
        <p:spPr>
          <a:xfrm>
            <a:off x="365760" y="548640"/>
            <a:ext cx="8229600" cy="320040"/>
          </a:xfrm>
          <a:prstGeom prst="rect">
            <a:avLst/>
          </a:prstGeom>
          <a:noFill/>
        </p:spPr>
        <p:txBody>
          <a:bodyPr wrap="square" lIns="45720" tIns="27432" rIns="45720" bIns="27432">
            <a:spAutoFit/>
          </a:bodyPr>
          <a:lstStyle/>
          <a:p>
            <a:pPr algn="l"/>
            <a:r>
              <a:rPr sz="1200" b="0" i="0">
                <a:solidFill>
                  <a:srgbClr val="E8ECF2"/>
                </a:solidFill>
              </a:rPr>
              <a:t>建设工程法规及相关知识  ›  建设工程合同和劳动合同法律制度</a:t>
            </a:r>
          </a:p>
        </p:txBody>
      </p:sp>
      <p:sp>
        <p:nvSpPr>
          <p:cNvPr id="6" name="Rectangle 5"/>
          <p:cNvSpPr/>
          <p:nvPr/>
        </p:nvSpPr>
        <p:spPr>
          <a:xfrm>
            <a:off x="365760" y="1188720"/>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4904" y="1170432"/>
            <a:ext cx="292608" cy="320040"/>
          </a:xfrm>
          <a:prstGeom prst="rect">
            <a:avLst/>
          </a:prstGeom>
          <a:noFill/>
        </p:spPr>
        <p:txBody>
          <a:bodyPr wrap="square" lIns="45720" tIns="27432" rIns="45720" bIns="27432">
            <a:spAutoFit/>
          </a:bodyPr>
          <a:lstStyle/>
          <a:p>
            <a:pPr algn="ctr"/>
            <a:r>
              <a:rPr sz="1300" b="1" i="0">
                <a:solidFill>
                  <a:srgbClr val="FFFFFF"/>
                </a:solidFill>
              </a:rPr>
              <a:t>1</a:t>
            </a:r>
          </a:p>
        </p:txBody>
      </p:sp>
      <p:sp>
        <p:nvSpPr>
          <p:cNvPr id="8" name="TextBox 7"/>
          <p:cNvSpPr txBox="1"/>
          <p:nvPr/>
        </p:nvSpPr>
        <p:spPr>
          <a:xfrm>
            <a:off x="731520" y="1143000"/>
            <a:ext cx="3566160" cy="457200"/>
          </a:xfrm>
          <a:prstGeom prst="rect">
            <a:avLst/>
          </a:prstGeom>
          <a:noFill/>
        </p:spPr>
        <p:txBody>
          <a:bodyPr wrap="square" lIns="45720" tIns="27432" rIns="45720" bIns="27432">
            <a:spAutoFit/>
          </a:bodyPr>
          <a:lstStyle/>
          <a:p>
            <a:pPr algn="l"/>
            <a:r>
              <a:rPr sz="1300" b="0" i="0">
                <a:solidFill>
                  <a:srgbClr val="2D3A4A"/>
                </a:solidFill>
              </a:rPr>
              <a:t>合同订立</a:t>
            </a:r>
          </a:p>
        </p:txBody>
      </p:sp>
      <p:sp>
        <p:nvSpPr>
          <p:cNvPr id="9" name="Rectangle 8"/>
          <p:cNvSpPr/>
          <p:nvPr/>
        </p:nvSpPr>
        <p:spPr>
          <a:xfrm>
            <a:off x="365760" y="1847088"/>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 y="1828800"/>
            <a:ext cx="292608" cy="320040"/>
          </a:xfrm>
          <a:prstGeom prst="rect">
            <a:avLst/>
          </a:prstGeom>
          <a:noFill/>
        </p:spPr>
        <p:txBody>
          <a:bodyPr wrap="square" lIns="45720" tIns="27432" rIns="45720" bIns="27432">
            <a:spAutoFit/>
          </a:bodyPr>
          <a:lstStyle/>
          <a:p>
            <a:pPr algn="ctr"/>
            <a:r>
              <a:rPr sz="1300" b="1" i="0">
                <a:solidFill>
                  <a:srgbClr val="FFFFFF"/>
                </a:solidFill>
              </a:rPr>
              <a:t>2</a:t>
            </a:r>
          </a:p>
        </p:txBody>
      </p:sp>
      <p:sp>
        <p:nvSpPr>
          <p:cNvPr id="11" name="TextBox 10"/>
          <p:cNvSpPr txBox="1"/>
          <p:nvPr/>
        </p:nvSpPr>
        <p:spPr>
          <a:xfrm>
            <a:off x="731520" y="1801368"/>
            <a:ext cx="3566160" cy="457200"/>
          </a:xfrm>
          <a:prstGeom prst="rect">
            <a:avLst/>
          </a:prstGeom>
          <a:noFill/>
        </p:spPr>
        <p:txBody>
          <a:bodyPr wrap="square" lIns="45720" tIns="27432" rIns="45720" bIns="27432">
            <a:spAutoFit/>
          </a:bodyPr>
          <a:lstStyle/>
          <a:p>
            <a:pPr algn="l"/>
            <a:r>
              <a:rPr sz="1300" b="0" i="0">
                <a:solidFill>
                  <a:srgbClr val="2D3A4A"/>
                </a:solidFill>
              </a:rPr>
              <a:t>效力</a:t>
            </a:r>
          </a:p>
        </p:txBody>
      </p:sp>
      <p:sp>
        <p:nvSpPr>
          <p:cNvPr id="12" name="Rectangle 11"/>
          <p:cNvSpPr/>
          <p:nvPr/>
        </p:nvSpPr>
        <p:spPr>
          <a:xfrm>
            <a:off x="365760" y="2505456"/>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2487168"/>
            <a:ext cx="292608" cy="320040"/>
          </a:xfrm>
          <a:prstGeom prst="rect">
            <a:avLst/>
          </a:prstGeom>
          <a:noFill/>
        </p:spPr>
        <p:txBody>
          <a:bodyPr wrap="square" lIns="45720" tIns="27432" rIns="45720" bIns="27432">
            <a:spAutoFit/>
          </a:bodyPr>
          <a:lstStyle/>
          <a:p>
            <a:pPr algn="ctr"/>
            <a:r>
              <a:rPr sz="1300" b="1" i="0">
                <a:solidFill>
                  <a:srgbClr val="FFFFFF"/>
                </a:solidFill>
              </a:rPr>
              <a:t>3</a:t>
            </a:r>
          </a:p>
        </p:txBody>
      </p:sp>
      <p:sp>
        <p:nvSpPr>
          <p:cNvPr id="14" name="TextBox 13"/>
          <p:cNvSpPr txBox="1"/>
          <p:nvPr/>
        </p:nvSpPr>
        <p:spPr>
          <a:xfrm>
            <a:off x="731520" y="2459736"/>
            <a:ext cx="3566160" cy="457200"/>
          </a:xfrm>
          <a:prstGeom prst="rect">
            <a:avLst/>
          </a:prstGeom>
          <a:noFill/>
        </p:spPr>
        <p:txBody>
          <a:bodyPr wrap="square" lIns="45720" tIns="27432" rIns="45720" bIns="27432">
            <a:spAutoFit/>
          </a:bodyPr>
          <a:lstStyle/>
          <a:p>
            <a:pPr algn="l"/>
            <a:r>
              <a:rPr sz="1300" b="0" i="0">
                <a:solidFill>
                  <a:srgbClr val="2D3A4A"/>
                </a:solidFill>
              </a:rPr>
              <a:t>履行</a:t>
            </a:r>
          </a:p>
        </p:txBody>
      </p:sp>
      <p:sp>
        <p:nvSpPr>
          <p:cNvPr id="15" name="Rectangle 14"/>
          <p:cNvSpPr/>
          <p:nvPr/>
        </p:nvSpPr>
        <p:spPr>
          <a:xfrm>
            <a:off x="365760" y="3163824"/>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 y="3145536"/>
            <a:ext cx="292608" cy="320040"/>
          </a:xfrm>
          <a:prstGeom prst="rect">
            <a:avLst/>
          </a:prstGeom>
          <a:noFill/>
        </p:spPr>
        <p:txBody>
          <a:bodyPr wrap="square" lIns="45720" tIns="27432" rIns="45720" bIns="27432">
            <a:spAutoFit/>
          </a:bodyPr>
          <a:lstStyle/>
          <a:p>
            <a:pPr algn="ctr"/>
            <a:r>
              <a:rPr sz="1300" b="1" i="0">
                <a:solidFill>
                  <a:srgbClr val="FFFFFF"/>
                </a:solidFill>
              </a:rPr>
              <a:t>4</a:t>
            </a:r>
          </a:p>
        </p:txBody>
      </p:sp>
      <p:sp>
        <p:nvSpPr>
          <p:cNvPr id="17" name="TextBox 16"/>
          <p:cNvSpPr txBox="1"/>
          <p:nvPr/>
        </p:nvSpPr>
        <p:spPr>
          <a:xfrm>
            <a:off x="731520" y="3118104"/>
            <a:ext cx="3566160" cy="457200"/>
          </a:xfrm>
          <a:prstGeom prst="rect">
            <a:avLst/>
          </a:prstGeom>
          <a:noFill/>
        </p:spPr>
        <p:txBody>
          <a:bodyPr wrap="square" lIns="45720" tIns="27432" rIns="45720" bIns="27432">
            <a:spAutoFit/>
          </a:bodyPr>
          <a:lstStyle/>
          <a:p>
            <a:pPr algn="l"/>
            <a:r>
              <a:rPr sz="1300" b="0" i="0">
                <a:solidFill>
                  <a:srgbClr val="2D3A4A"/>
                </a:solidFill>
              </a:rPr>
              <a:t>变更</a:t>
            </a:r>
          </a:p>
        </p:txBody>
      </p:sp>
      <p:sp>
        <p:nvSpPr>
          <p:cNvPr id="18" name="Rectangle 17"/>
          <p:cNvSpPr/>
          <p:nvPr/>
        </p:nvSpPr>
        <p:spPr>
          <a:xfrm>
            <a:off x="4572000" y="1188720"/>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1144" y="1170432"/>
            <a:ext cx="292608" cy="320040"/>
          </a:xfrm>
          <a:prstGeom prst="rect">
            <a:avLst/>
          </a:prstGeom>
          <a:noFill/>
        </p:spPr>
        <p:txBody>
          <a:bodyPr wrap="square" lIns="45720" tIns="27432" rIns="45720" bIns="27432">
            <a:spAutoFit/>
          </a:bodyPr>
          <a:lstStyle/>
          <a:p>
            <a:pPr algn="ctr"/>
            <a:r>
              <a:rPr sz="1300" b="1" i="0">
                <a:solidFill>
                  <a:srgbClr val="FFFFFF"/>
                </a:solidFill>
              </a:rPr>
              <a:t>5</a:t>
            </a:r>
          </a:p>
        </p:txBody>
      </p:sp>
      <p:sp>
        <p:nvSpPr>
          <p:cNvPr id="20" name="TextBox 19"/>
          <p:cNvSpPr txBox="1"/>
          <p:nvPr/>
        </p:nvSpPr>
        <p:spPr>
          <a:xfrm>
            <a:off x="4937760" y="1143000"/>
            <a:ext cx="3566160" cy="457200"/>
          </a:xfrm>
          <a:prstGeom prst="rect">
            <a:avLst/>
          </a:prstGeom>
          <a:noFill/>
        </p:spPr>
        <p:txBody>
          <a:bodyPr wrap="square" lIns="45720" tIns="27432" rIns="45720" bIns="27432">
            <a:spAutoFit/>
          </a:bodyPr>
          <a:lstStyle/>
          <a:p>
            <a:pPr algn="l"/>
            <a:r>
              <a:rPr sz="1300" b="0" i="0">
                <a:solidFill>
                  <a:srgbClr val="2D3A4A"/>
                </a:solidFill>
              </a:rPr>
              <a:t>解除</a:t>
            </a:r>
          </a:p>
        </p:txBody>
      </p:sp>
      <p:sp>
        <p:nvSpPr>
          <p:cNvPr id="21" name="Rectangle 20"/>
          <p:cNvSpPr/>
          <p:nvPr/>
        </p:nvSpPr>
        <p:spPr>
          <a:xfrm>
            <a:off x="4572000" y="1847088"/>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81144" y="1828800"/>
            <a:ext cx="292608" cy="320040"/>
          </a:xfrm>
          <a:prstGeom prst="rect">
            <a:avLst/>
          </a:prstGeom>
          <a:noFill/>
        </p:spPr>
        <p:txBody>
          <a:bodyPr wrap="square" lIns="45720" tIns="27432" rIns="45720" bIns="27432">
            <a:spAutoFit/>
          </a:bodyPr>
          <a:lstStyle/>
          <a:p>
            <a:pPr algn="ctr"/>
            <a:r>
              <a:rPr sz="1300" b="1" i="0">
                <a:solidFill>
                  <a:srgbClr val="FFFFFF"/>
                </a:solidFill>
              </a:rPr>
              <a:t>6</a:t>
            </a:r>
          </a:p>
        </p:txBody>
      </p:sp>
      <p:sp>
        <p:nvSpPr>
          <p:cNvPr id="23" name="TextBox 22"/>
          <p:cNvSpPr txBox="1"/>
          <p:nvPr/>
        </p:nvSpPr>
        <p:spPr>
          <a:xfrm>
            <a:off x="4937760" y="1801368"/>
            <a:ext cx="3566160" cy="457200"/>
          </a:xfrm>
          <a:prstGeom prst="rect">
            <a:avLst/>
          </a:prstGeom>
          <a:noFill/>
        </p:spPr>
        <p:txBody>
          <a:bodyPr wrap="square" lIns="45720" tIns="27432" rIns="45720" bIns="27432">
            <a:spAutoFit/>
          </a:bodyPr>
          <a:lstStyle/>
          <a:p>
            <a:pPr algn="l"/>
            <a:r>
              <a:rPr sz="1300" b="0" i="0">
                <a:solidFill>
                  <a:srgbClr val="2D3A4A"/>
                </a:solidFill>
              </a:rPr>
              <a:t>违约责任</a:t>
            </a:r>
          </a:p>
        </p:txBody>
      </p:sp>
      <p:sp>
        <p:nvSpPr>
          <p:cNvPr id="24" name="Rectangle 23"/>
          <p:cNvSpPr/>
          <p:nvPr/>
        </p:nvSpPr>
        <p:spPr>
          <a:xfrm>
            <a:off x="4572000" y="2505456"/>
            <a:ext cx="292608" cy="2926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81144" y="2487168"/>
            <a:ext cx="292608" cy="320040"/>
          </a:xfrm>
          <a:prstGeom prst="rect">
            <a:avLst/>
          </a:prstGeom>
          <a:noFill/>
        </p:spPr>
        <p:txBody>
          <a:bodyPr wrap="square" lIns="45720" tIns="27432" rIns="45720" bIns="27432">
            <a:spAutoFit/>
          </a:bodyPr>
          <a:lstStyle/>
          <a:p>
            <a:pPr algn="ctr"/>
            <a:r>
              <a:rPr sz="1300" b="1" i="0">
                <a:solidFill>
                  <a:srgbClr val="FFFFFF"/>
                </a:solidFill>
              </a:rPr>
              <a:t>7</a:t>
            </a:r>
          </a:p>
        </p:txBody>
      </p:sp>
      <p:sp>
        <p:nvSpPr>
          <p:cNvPr id="26" name="TextBox 25"/>
          <p:cNvSpPr txBox="1"/>
          <p:nvPr/>
        </p:nvSpPr>
        <p:spPr>
          <a:xfrm>
            <a:off x="4937760" y="2459736"/>
            <a:ext cx="3566160" cy="457200"/>
          </a:xfrm>
          <a:prstGeom prst="rect">
            <a:avLst/>
          </a:prstGeom>
          <a:noFill/>
        </p:spPr>
        <p:txBody>
          <a:bodyPr wrap="square" lIns="45720" tIns="27432" rIns="45720" bIns="27432">
            <a:spAutoFit/>
          </a:bodyPr>
          <a:lstStyle/>
          <a:p>
            <a:pPr algn="l"/>
            <a:r>
              <a:rPr sz="1300" b="0" i="0">
                <a:solidFill>
                  <a:srgbClr val="2D3A4A"/>
                </a:solidFill>
              </a:rPr>
              <a:t>劳动合同</a:t>
            </a:r>
          </a:p>
        </p:txBody>
      </p:sp>
      <p:sp>
        <p:nvSpPr>
          <p:cNvPr id="27" name="Rectangle 26"/>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掌握大纲是学习的基础  ·  每个知识点都可能成为考点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一、合同法基本原则（5项）</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平等原则：合同当事人法律地位平等，一方不得将自己的意志强加给另一方</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自愿原则：当事人依法享有自愿订立合同的权利，任何单位和个人不得非法干预</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公平原则：应当公平确定各方的权利和义务</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诚实信用原则：行使权利、履行义务应当遵循诚实信用原则</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遵守法律、行政法规原则，尊重社会公德原则</a:t>
            </a:r>
          </a:p>
        </p:txBody>
      </p:sp>
      <p:sp>
        <p:nvSpPr>
          <p:cNvPr id="18" name="Rectangle 17"/>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1 部分  ·  请结合教材深入理解记忆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二、合同订立（要约+承诺）</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【合同形式】书面、口头、其他形式；建设工程合同必须采用书面形式</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【合同内容】当事人名称/姓名住所、标的、数量、质量、价款/报酬、履行期限地点方式、违约责任、解决争议方法</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【要约】希望与他人订立合同的意思表示（要约到达受要约人时生效）</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【承诺】受要约人同意要约的意思表示（承诺到达要约人时生效，合同成立）</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【格式条款】提供格式条款一方应遵循公平原则确定权利义务，并采取合理方式提请对方注意免除或限制其责任的条款</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【要约邀请】希望他人向自己发出要约的意思表示（拍卖公告、招标公告、招股说明书、商业广告等，商业广告内容具体确定的视为要约）</a:t>
            </a:r>
          </a:p>
        </p:txBody>
      </p:sp>
      <p:sp>
        <p:nvSpPr>
          <p:cNvPr id="20" name="Rectangle 19"/>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2 部分  ·  请结合教材深入理解记忆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三、合同效力（无效、可撤销、效力待定）</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【有效合同】当事人具有相应民事行为能力、意思表示真实、不违反法律或社会公共利益</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【无效合同5种情形】①一方以欺诈、胁迫手段订立，损害国家利益；②恶意串通，损害国家、集体或第三人利益；③以合法形式掩盖非法目的；④损害社会公共利益；⑤违反法律、行政法规强制性规定</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【可撤销合同3种情形】①因重大误解订立合同；②订立合同时显失公平；③一方以欺诈、胁迫手段或乘人之危，使对方违背真实意思订立合同</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【效力待定合同3种情形】①限制民事行为能力人订立的合同；②无权代理人订立的合同；③无处分权的人处分他人财产的合同</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【合同无效或被撤销后果】返还财产、赔偿损失</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【撤销权行使】具有撤销权的当事人自知道或应当知道撤销事由之日起1年内行使</a:t>
            </a:r>
          </a:p>
        </p:txBody>
      </p:sp>
      <p:sp>
        <p:nvSpPr>
          <p:cNvPr id="20" name="Rectangle 19"/>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3 部分  ·  请结合教材深入理解记忆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四、合同履行与抗辩权</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【履行原则】全面履行原则、诚实信用原则</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【同时履行抗辩权】当事人互负债务，没有先后履行顺序的，应当同时履行（一方在对方履行之前有权拒绝其履行要求）</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【先履行抗辩权】当事人互负债务，有先后履行顺序的，先履行一方未履行的，后履行一方有权拒绝其履行要求</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【不安抗辩权】应当先履行债务的当事人，有确切证据证明对方丧失履行能力，可以中止履行（对方经营状况严重恶化、转移财产抽逃资金、丧失商业信誉等）</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【中止履行后】应及时通知对方，对方提供适当担保时应恢复履行；对方在合理期限内未恢复履行能力且未提供适当担保的，中止履行的一方可以解除合同</a:t>
            </a:r>
          </a:p>
        </p:txBody>
      </p:sp>
      <p:sp>
        <p:nvSpPr>
          <p:cNvPr id="18" name="Rectangle 17"/>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4 部分  ·  请结合教材深入理解记忆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五、合同变更、转让与终止</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【合同变更】经当事人协商一致，可以变更合同（法律、行政法规规定变更合同应当办理批准、登记手续的，应办理）</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【合同转让】债权人可以将合同权利全部或部分转让给第三人（但根据合同性质、当事人约定或法律规定不得转让的除外）</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【合同终止7种情形】债务已经按照约定履行；合同解除；债务相互抵销；债务人依法将标的物提存；债权人免除债务；债权债务同归于一人；法律规定或当事人约定终止的其他情形</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合同解除】当事人协商一致解除；法定解除（因不可抗力致使不能实现合同目的；在履行期限届满前，当事人明确表示或以自己行为表明不履行主要债务；当事人一方迟延履行主要债务，经催告后在合理期限内仍未履行；当事人一方迟延履行债务或有其他违约行为致使不能实现合同目的）</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【提存】债务人难以履行债务的，可以将标的物提存（债权人无正当理由拒绝受领、债权人下落不明、债权人死亡未确定继承人或丧失民事行为能力未确定监护人）</a:t>
            </a:r>
          </a:p>
        </p:txBody>
      </p:sp>
      <p:sp>
        <p:nvSpPr>
          <p:cNvPr id="18" name="Rectangle 17"/>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5 部分  ·  请结合教材深入理解记忆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六、违约责任</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【违约责任构成要件】有违约行为、无免责事由（不可抗力是法定免责事由）</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【承担违约责任方式5种】继续履行、采取补救措施、赔偿损失、支付违约金、定金罚则</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【违约金】约定的违约金低于造成的损失的，当事人可以请求法院或仲裁机构予以增加；过分高于造成的损失的，可以请求适当减少</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【定金】当事人可以约定一方向对方给付定金作为债权的担保（定金数额不得超过主合同标的额的20%，超过部分不具有定金效力）</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【定金罚则】给付定金的一方不履行约定债务的，无权要求返还定金；收受定金的一方不履行约定债务的，应当双倍返还定金</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【违约金与定金选择】当事人既约定违约金又约定定金的，一方违约时，对方可以选择适用违约金或定金条款（不能同时主张）</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【不可抗力】不能预见、不能避免并不能克服的客观情况（如地震、台风等）；因不可抗力不能履行合同的，根据不可抗力的影响，部分或全部免除责任，但法律另有规定的除外</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6 部分  ·  请结合教材深入理解记忆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七、劳动合同概述与种类</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【劳动合同特征】主体是劳动者和用人单位；内容是劳动权利和义务；客体是劳动行为；具有社会性</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【劳动合同种类3种】固定期限劳动合同、无固定期限劳动合同、以完成一定工作任务为期限的劳动合同</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无固定期限劳动合同4种情形】①劳动者在该用人单位连续工作满10年的；②用人单位初次实行劳动合同制度或国有企业改制重新订立劳动合同时，劳动者在该用人单位连续工作满10年且距法定退休年龄不足10年的；③连续订立2次固定期限劳动合同，续订第三次应订立无固定期限劳动合同；④用人单位自用工之日起满1年不与劳动者订立书面劳动合同的，视为用人单位与劳动者已订立无固定期限劳动合同</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【试用期】试用期包含在劳动合同期限内；劳动合同仅约定试用期的，试用期不成立，该期限为劳动合同期限</a:t>
            </a:r>
          </a:p>
        </p:txBody>
      </p:sp>
      <p:sp>
        <p:nvSpPr>
          <p:cNvPr id="16" name="Rectangle 15"/>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7 部分  ·  请结合教材深入理解记忆</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八、劳动合同内容与试用期规定</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【必备条款8项】用人单位名称住所和法定代表人；劳动者姓名住址和身份证；劳动合同期限；工作内容和工作地点；工作时间和休息休假；劳动报酬；社会保险；劳动保护劳动条件和职业危害防护</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【约定条款】试用期、培训、保守秘密、补充保险和福利待遇等其他事项</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【试用期规定】劳动合同期限3个月以上不满1年的，试用期不得超过1个月；劳动合同期限1年以上不满3年的，试用期不得超过2个月；3年以上固定期限和无固定期限劳动合同，试用期不得超过6个月</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【试用期工资】不得低于本单位相同岗位最低档工资或劳动合同约定工资的80%，并不得低于用人单位所在地的最低工资标准</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【试用期解除】劳动者在试用期内提前3日通知用人单位，可以解除劳动合同；劳动者在试用期间被证明不符合录用条件的，用人单位可以解除劳动合同</a:t>
            </a:r>
          </a:p>
        </p:txBody>
      </p:sp>
      <p:sp>
        <p:nvSpPr>
          <p:cNvPr id="18" name="Rectangle 17"/>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8 部分  ·  请结合教材深入理解记忆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九、劳动合同的履行、变更、解除和终止</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【履行原则】全面履行、诚实信用</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【变更】用人单位与劳动者协商一致，可以变更劳动合同约定的内容（变更劳动合同应采用书面形式）</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【协商解除】用人单位与劳动者协商一致，可以解除劳动合同</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劳动者单方解除6种情形】提前30日以书面形式通知用人单位（试用期内提前3日通知）；未及时足额支付劳动报酬；未依法为劳动者缴纳社会保险费；未按照劳动合同约定提供劳动保护或劳动条件；用人单位的规章制度违反法律、法规的规定，损害劳动者权益；法律、行政法规规定劳动者可以解除劳动合同的其他情形</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用人单位单方解除6种情形】劳动者在试用期间被证明不符合录用条件；严重违反用人单位的规章制度；严重失职，营私舞弊，给用人单位造成重大损害；劳动者同时与其他用人单位建立劳动关系，对完成本单位工作任务造成严重影响，或经用人单位提出，拒不改正的；被依法追究刑事责任</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经济补偿N+1】劳动者因用人单位违约而解除劳动合同、用人单位提出并与劳动者协商解除劳动合同、用人单位依法裁员等情形，应向劳动者支付经济补偿（每满1年支付1个月工资，6个月以上不满1年的按1年计算，不满6个月的支付半个月工资）</a:t>
            </a:r>
          </a:p>
        </p:txBody>
      </p:sp>
      <p:sp>
        <p:nvSpPr>
          <p:cNvPr id="20" name="Rectangle 19"/>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9 部分  ·  请结合教材深入理解记忆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4572000" cy="384048"/>
          </a:xfrm>
          <a:prstGeom prst="rect">
            <a:avLst/>
          </a:prstGeom>
          <a:noFill/>
        </p:spPr>
        <p:txBody>
          <a:bodyPr wrap="square" lIns="45720" tIns="27432" rIns="45720" bIns="27432">
            <a:spAutoFit/>
          </a:bodyPr>
          <a:lstStyle/>
          <a:p>
            <a:pPr algn="l"/>
            <a:r>
              <a:rPr sz="2000" b="1" i="0">
                <a:solidFill>
                  <a:srgbClr val="FFFFFF"/>
                </a:solidFill>
              </a:rPr>
              <a:t>核心知识内容</a:t>
            </a:r>
          </a:p>
        </p:txBody>
      </p:sp>
      <p:sp>
        <p:nvSpPr>
          <p:cNvPr id="5" name="TextBox 4"/>
          <p:cNvSpPr txBox="1"/>
          <p:nvPr/>
        </p:nvSpPr>
        <p:spPr>
          <a:xfrm>
            <a:off x="365760" y="530352"/>
            <a:ext cx="8229600" cy="320040"/>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74320" y="1024128"/>
            <a:ext cx="8595360" cy="402336"/>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042415"/>
            <a:ext cx="8321040" cy="365760"/>
          </a:xfrm>
          <a:prstGeom prst="rect">
            <a:avLst/>
          </a:prstGeom>
          <a:noFill/>
        </p:spPr>
        <p:txBody>
          <a:bodyPr wrap="square" lIns="45720" tIns="27432" rIns="45720" bIns="27432">
            <a:spAutoFit/>
          </a:bodyPr>
          <a:lstStyle/>
          <a:p>
            <a:pPr algn="l"/>
            <a:r>
              <a:rPr sz="1400" b="1" i="0">
                <a:solidFill>
                  <a:srgbClr val="FFFFFF"/>
                </a:solidFill>
              </a:rPr>
              <a:t>十、高频考点速记</a:t>
            </a:r>
          </a:p>
        </p:txBody>
      </p:sp>
      <p:sp>
        <p:nvSpPr>
          <p:cNvPr id="8" name="Rectangle 7"/>
          <p:cNvSpPr/>
          <p:nvPr/>
        </p:nvSpPr>
        <p:spPr>
          <a:xfrm>
            <a:off x="274320" y="1572768"/>
            <a:ext cx="36576" cy="3474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 y="1554480"/>
            <a:ext cx="8412480" cy="502920"/>
          </a:xfrm>
          <a:prstGeom prst="rect">
            <a:avLst/>
          </a:prstGeom>
          <a:noFill/>
        </p:spPr>
        <p:txBody>
          <a:bodyPr wrap="square" lIns="45720" tIns="27432" rIns="45720" bIns="27432">
            <a:spAutoFit/>
          </a:bodyPr>
          <a:lstStyle/>
          <a:p>
            <a:pPr algn="l"/>
            <a:r>
              <a:rPr sz="1300" b="0" i="0">
                <a:solidFill>
                  <a:srgbClr val="2D3A4A"/>
                </a:solidFill>
              </a:rPr>
              <a:t>【合同形式】书面、口头、其他（约定或法定必须书面的除外）</a:t>
            </a:r>
          </a:p>
        </p:txBody>
      </p:sp>
      <p:sp>
        <p:nvSpPr>
          <p:cNvPr id="10" name="Rectangle 9"/>
          <p:cNvSpPr/>
          <p:nvPr/>
        </p:nvSpPr>
        <p:spPr>
          <a:xfrm>
            <a:off x="274320" y="2048256"/>
            <a:ext cx="36576"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29968"/>
            <a:ext cx="8412480" cy="502920"/>
          </a:xfrm>
          <a:prstGeom prst="rect">
            <a:avLst/>
          </a:prstGeom>
          <a:noFill/>
        </p:spPr>
        <p:txBody>
          <a:bodyPr wrap="square" lIns="45720" tIns="27432" rIns="45720" bIns="27432">
            <a:spAutoFit/>
          </a:bodyPr>
          <a:lstStyle/>
          <a:p>
            <a:pPr algn="l"/>
            <a:r>
              <a:rPr sz="1300" b="0" i="0">
                <a:solidFill>
                  <a:srgbClr val="2D3A4A"/>
                </a:solidFill>
              </a:rPr>
              <a:t>【承诺生效】承诺到达要约人时生效</a:t>
            </a:r>
          </a:p>
        </p:txBody>
      </p:sp>
      <p:sp>
        <p:nvSpPr>
          <p:cNvPr id="12" name="Rectangle 11"/>
          <p:cNvSpPr/>
          <p:nvPr/>
        </p:nvSpPr>
        <p:spPr>
          <a:xfrm>
            <a:off x="274320" y="2523744"/>
            <a:ext cx="36576" cy="347472"/>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2505456"/>
            <a:ext cx="8412480" cy="502920"/>
          </a:xfrm>
          <a:prstGeom prst="rect">
            <a:avLst/>
          </a:prstGeom>
          <a:noFill/>
        </p:spPr>
        <p:txBody>
          <a:bodyPr wrap="square" lIns="45720" tIns="27432" rIns="45720" bIns="27432">
            <a:spAutoFit/>
          </a:bodyPr>
          <a:lstStyle/>
          <a:p>
            <a:pPr algn="l"/>
            <a:r>
              <a:rPr sz="1300" b="0" i="0">
                <a:solidFill>
                  <a:srgbClr val="2D3A4A"/>
                </a:solidFill>
              </a:rPr>
              <a:t>【无效合同5种】欺诈胁迫损害国家利益、恶意串通、合法形式掩盖非法目的、损害社会公共利益、违反强制性规定</a:t>
            </a:r>
          </a:p>
        </p:txBody>
      </p:sp>
      <p:sp>
        <p:nvSpPr>
          <p:cNvPr id="14" name="Rectangle 13"/>
          <p:cNvSpPr/>
          <p:nvPr/>
        </p:nvSpPr>
        <p:spPr>
          <a:xfrm>
            <a:off x="274320" y="2999232"/>
            <a:ext cx="36576" cy="34747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980944"/>
            <a:ext cx="8412480" cy="502920"/>
          </a:xfrm>
          <a:prstGeom prst="rect">
            <a:avLst/>
          </a:prstGeom>
          <a:noFill/>
        </p:spPr>
        <p:txBody>
          <a:bodyPr wrap="square" lIns="45720" tIns="27432" rIns="45720" bIns="27432">
            <a:spAutoFit/>
          </a:bodyPr>
          <a:lstStyle/>
          <a:p>
            <a:pPr algn="l"/>
            <a:r>
              <a:rPr sz="1300" b="0" i="0">
                <a:solidFill>
                  <a:srgbClr val="2D3A4A"/>
                </a:solidFill>
              </a:rPr>
              <a:t>【可撤销合同3种】重大误解、显失公平、欺诈胁迫乘人之危（未损害国家利益）</a:t>
            </a:r>
          </a:p>
        </p:txBody>
      </p:sp>
      <p:sp>
        <p:nvSpPr>
          <p:cNvPr id="16" name="Rectangle 15"/>
          <p:cNvSpPr/>
          <p:nvPr/>
        </p:nvSpPr>
        <p:spPr>
          <a:xfrm>
            <a:off x="274320" y="3474720"/>
            <a:ext cx="36576" cy="34747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56432"/>
            <a:ext cx="8412480" cy="502920"/>
          </a:xfrm>
          <a:prstGeom prst="rect">
            <a:avLst/>
          </a:prstGeom>
          <a:noFill/>
        </p:spPr>
        <p:txBody>
          <a:bodyPr wrap="square" lIns="45720" tIns="27432" rIns="45720" bIns="27432">
            <a:spAutoFit/>
          </a:bodyPr>
          <a:lstStyle/>
          <a:p>
            <a:pPr algn="l"/>
            <a:r>
              <a:rPr sz="1300" b="0" i="0">
                <a:solidFill>
                  <a:srgbClr val="2D3A4A"/>
                </a:solidFill>
              </a:rPr>
              <a:t>【撤销权行使】自知道或应当知道撤销事由之日起1年内</a:t>
            </a:r>
          </a:p>
        </p:txBody>
      </p:sp>
      <p:sp>
        <p:nvSpPr>
          <p:cNvPr id="18" name="Rectangle 17"/>
          <p:cNvSpPr/>
          <p:nvPr/>
        </p:nvSpPr>
        <p:spPr>
          <a:xfrm>
            <a:off x="274320" y="3950208"/>
            <a:ext cx="36576"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336" y="3931920"/>
            <a:ext cx="8412480" cy="502920"/>
          </a:xfrm>
          <a:prstGeom prst="rect">
            <a:avLst/>
          </a:prstGeom>
          <a:noFill/>
        </p:spPr>
        <p:txBody>
          <a:bodyPr wrap="square" lIns="45720" tIns="27432" rIns="45720" bIns="27432">
            <a:spAutoFit/>
          </a:bodyPr>
          <a:lstStyle/>
          <a:p>
            <a:pPr algn="l"/>
            <a:r>
              <a:rPr sz="1300" b="0" i="0">
                <a:solidFill>
                  <a:srgbClr val="2D3A4A"/>
                </a:solidFill>
              </a:rPr>
              <a:t>【违约金与定金】只能二选一，定金不超过合同标的20%</a:t>
            </a:r>
          </a:p>
        </p:txBody>
      </p:sp>
      <p:sp>
        <p:nvSpPr>
          <p:cNvPr id="20" name="Rectangle 19"/>
          <p:cNvSpPr/>
          <p:nvPr/>
        </p:nvSpPr>
        <p:spPr>
          <a:xfrm>
            <a:off x="274320" y="4425696"/>
            <a:ext cx="36576" cy="347472"/>
          </a:xfrm>
          <a:prstGeom prst="rect">
            <a:avLst/>
          </a:prstGeom>
          <a:solidFill>
            <a:srgbClr val="2774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4407408"/>
            <a:ext cx="8412480" cy="502920"/>
          </a:xfrm>
          <a:prstGeom prst="rect">
            <a:avLst/>
          </a:prstGeom>
          <a:noFill/>
        </p:spPr>
        <p:txBody>
          <a:bodyPr wrap="square" lIns="45720" tIns="27432" rIns="45720" bIns="27432">
            <a:spAutoFit/>
          </a:bodyPr>
          <a:lstStyle/>
          <a:p>
            <a:pPr algn="l"/>
            <a:r>
              <a:rPr sz="1300" b="0" i="0">
                <a:solidFill>
                  <a:srgbClr val="2D3A4A"/>
                </a:solidFill>
              </a:rPr>
              <a:t>【劳动合同试用期】3个月-1年→1个月；1年-3年→2个月；3年以上→6个月</a:t>
            </a:r>
          </a:p>
        </p:txBody>
      </p:sp>
      <p:sp>
        <p:nvSpPr>
          <p:cNvPr id="22" name="Rectangle 21"/>
          <p:cNvSpPr/>
          <p:nvPr/>
        </p:nvSpPr>
        <p:spPr>
          <a:xfrm>
            <a:off x="0" y="4937760"/>
            <a:ext cx="9144000" cy="205740"/>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56048"/>
            <a:ext cx="8595360" cy="182880"/>
          </a:xfrm>
          <a:prstGeom prst="rect">
            <a:avLst/>
          </a:prstGeom>
          <a:noFill/>
        </p:spPr>
        <p:txBody>
          <a:bodyPr wrap="square" lIns="45720" tIns="27432" rIns="45720" bIns="27432">
            <a:spAutoFit/>
          </a:bodyPr>
          <a:lstStyle/>
          <a:p>
            <a:pPr algn="ctr"/>
            <a:r>
              <a:rPr sz="1000" b="0" i="0">
                <a:solidFill>
                  <a:srgbClr val="6B7A8D"/>
                </a:solidFill>
              </a:rPr>
              <a:t>第 10 部分  ·  请结合教材深入理解记忆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本章考点速记</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28600" y="100584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05840"/>
            <a:ext cx="54864" cy="8046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 y="1060704"/>
            <a:ext cx="347472" cy="320040"/>
          </a:xfrm>
          <a:prstGeom prst="rect">
            <a:avLst/>
          </a:prstGeom>
          <a:noFill/>
        </p:spPr>
        <p:txBody>
          <a:bodyPr wrap="square" lIns="45720" tIns="27432" rIns="45720" bIns="27432">
            <a:spAutoFit/>
          </a:bodyPr>
          <a:lstStyle/>
          <a:p>
            <a:pPr algn="l"/>
            <a:r>
              <a:rPr sz="1400" b="1" i="0">
                <a:solidFill>
                  <a:srgbClr val="008CD7"/>
                </a:solidFill>
              </a:rPr>
              <a:t>01</a:t>
            </a:r>
          </a:p>
        </p:txBody>
      </p:sp>
      <p:sp>
        <p:nvSpPr>
          <p:cNvPr id="9" name="TextBox 8"/>
          <p:cNvSpPr txBox="1"/>
          <p:nvPr/>
        </p:nvSpPr>
        <p:spPr>
          <a:xfrm>
            <a:off x="685800" y="1060704"/>
            <a:ext cx="3657599" cy="713232"/>
          </a:xfrm>
          <a:prstGeom prst="rect">
            <a:avLst/>
          </a:prstGeom>
          <a:noFill/>
        </p:spPr>
        <p:txBody>
          <a:bodyPr wrap="square" lIns="45720" tIns="27432" rIns="45720" bIns="27432">
            <a:spAutoFit/>
          </a:bodyPr>
          <a:lstStyle/>
          <a:p>
            <a:pPr algn="l"/>
            <a:r>
              <a:rPr sz="1200" b="0" i="0">
                <a:solidFill>
                  <a:srgbClr val="2D3A4A"/>
                </a:solidFill>
              </a:rPr>
              <a:t>合同订立的形式和程序</a:t>
            </a:r>
          </a:p>
        </p:txBody>
      </p:sp>
      <p:sp>
        <p:nvSpPr>
          <p:cNvPr id="10" name="Rectangle 9"/>
          <p:cNvSpPr/>
          <p:nvPr/>
        </p:nvSpPr>
        <p:spPr>
          <a:xfrm>
            <a:off x="228600" y="196596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1965960"/>
            <a:ext cx="54864" cy="804672"/>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 y="2020824"/>
            <a:ext cx="347472" cy="320040"/>
          </a:xfrm>
          <a:prstGeom prst="rect">
            <a:avLst/>
          </a:prstGeom>
          <a:noFill/>
        </p:spPr>
        <p:txBody>
          <a:bodyPr wrap="square" lIns="45720" tIns="27432" rIns="45720" bIns="27432">
            <a:spAutoFit/>
          </a:bodyPr>
          <a:lstStyle/>
          <a:p>
            <a:pPr algn="l"/>
            <a:r>
              <a:rPr sz="1400" b="1" i="0">
                <a:solidFill>
                  <a:srgbClr val="008CD7"/>
                </a:solidFill>
              </a:rPr>
              <a:t>02</a:t>
            </a:r>
          </a:p>
        </p:txBody>
      </p:sp>
      <p:sp>
        <p:nvSpPr>
          <p:cNvPr id="13" name="TextBox 12"/>
          <p:cNvSpPr txBox="1"/>
          <p:nvPr/>
        </p:nvSpPr>
        <p:spPr>
          <a:xfrm>
            <a:off x="685800" y="2020824"/>
            <a:ext cx="3657599" cy="713232"/>
          </a:xfrm>
          <a:prstGeom prst="rect">
            <a:avLst/>
          </a:prstGeom>
          <a:noFill/>
        </p:spPr>
        <p:txBody>
          <a:bodyPr wrap="square" lIns="45720" tIns="27432" rIns="45720" bIns="27432">
            <a:spAutoFit/>
          </a:bodyPr>
          <a:lstStyle/>
          <a:p>
            <a:pPr algn="l"/>
            <a:r>
              <a:rPr sz="1200" b="0" i="0">
                <a:solidFill>
                  <a:srgbClr val="2D3A4A"/>
                </a:solidFill>
              </a:rPr>
              <a:t>合同无效的情形</a:t>
            </a:r>
          </a:p>
        </p:txBody>
      </p:sp>
      <p:sp>
        <p:nvSpPr>
          <p:cNvPr id="14" name="Rectangle 13"/>
          <p:cNvSpPr/>
          <p:nvPr/>
        </p:nvSpPr>
        <p:spPr>
          <a:xfrm>
            <a:off x="4709159" y="100584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09159" y="1005840"/>
            <a:ext cx="5486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8888" y="1060704"/>
            <a:ext cx="347472" cy="320040"/>
          </a:xfrm>
          <a:prstGeom prst="rect">
            <a:avLst/>
          </a:prstGeom>
          <a:noFill/>
        </p:spPr>
        <p:txBody>
          <a:bodyPr wrap="square" lIns="45720" tIns="27432" rIns="45720" bIns="27432">
            <a:spAutoFit/>
          </a:bodyPr>
          <a:lstStyle/>
          <a:p>
            <a:pPr algn="l"/>
            <a:r>
              <a:rPr sz="1400" b="1" i="0">
                <a:solidFill>
                  <a:srgbClr val="FFA500"/>
                </a:solidFill>
              </a:rPr>
              <a:t>03</a:t>
            </a:r>
          </a:p>
        </p:txBody>
      </p:sp>
      <p:sp>
        <p:nvSpPr>
          <p:cNvPr id="17" name="TextBox 16"/>
          <p:cNvSpPr txBox="1"/>
          <p:nvPr/>
        </p:nvSpPr>
        <p:spPr>
          <a:xfrm>
            <a:off x="5166359" y="1060704"/>
            <a:ext cx="3657599" cy="713232"/>
          </a:xfrm>
          <a:prstGeom prst="rect">
            <a:avLst/>
          </a:prstGeom>
          <a:noFill/>
        </p:spPr>
        <p:txBody>
          <a:bodyPr wrap="square" lIns="45720" tIns="27432" rIns="45720" bIns="27432">
            <a:spAutoFit/>
          </a:bodyPr>
          <a:lstStyle/>
          <a:p>
            <a:pPr algn="l"/>
            <a:r>
              <a:rPr sz="1200" b="0" i="0">
                <a:solidFill>
                  <a:srgbClr val="2D3A4A"/>
                </a:solidFill>
              </a:rPr>
              <a:t>违约责任的承担方式</a:t>
            </a:r>
          </a:p>
        </p:txBody>
      </p:sp>
      <p:sp>
        <p:nvSpPr>
          <p:cNvPr id="18" name="Rectangle 17"/>
          <p:cNvSpPr/>
          <p:nvPr/>
        </p:nvSpPr>
        <p:spPr>
          <a:xfrm>
            <a:off x="4709159" y="1965960"/>
            <a:ext cx="4206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09159" y="1965960"/>
            <a:ext cx="5486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18888" y="2020824"/>
            <a:ext cx="347472" cy="320040"/>
          </a:xfrm>
          <a:prstGeom prst="rect">
            <a:avLst/>
          </a:prstGeom>
          <a:noFill/>
        </p:spPr>
        <p:txBody>
          <a:bodyPr wrap="square" lIns="45720" tIns="27432" rIns="45720" bIns="27432">
            <a:spAutoFit/>
          </a:bodyPr>
          <a:lstStyle/>
          <a:p>
            <a:pPr algn="l"/>
            <a:r>
              <a:rPr sz="1400" b="1" i="0">
                <a:solidFill>
                  <a:srgbClr val="FFA500"/>
                </a:solidFill>
              </a:rPr>
              <a:t>04</a:t>
            </a:r>
          </a:p>
        </p:txBody>
      </p:sp>
      <p:sp>
        <p:nvSpPr>
          <p:cNvPr id="21" name="TextBox 20"/>
          <p:cNvSpPr txBox="1"/>
          <p:nvPr/>
        </p:nvSpPr>
        <p:spPr>
          <a:xfrm>
            <a:off x="5166359" y="2020824"/>
            <a:ext cx="3657599" cy="713232"/>
          </a:xfrm>
          <a:prstGeom prst="rect">
            <a:avLst/>
          </a:prstGeom>
          <a:noFill/>
        </p:spPr>
        <p:txBody>
          <a:bodyPr wrap="square" lIns="45720" tIns="27432" rIns="45720" bIns="27432">
            <a:spAutoFit/>
          </a:bodyPr>
          <a:lstStyle/>
          <a:p>
            <a:pPr algn="l"/>
            <a:r>
              <a:rPr sz="1200" b="0" i="0">
                <a:solidFill>
                  <a:srgbClr val="2D3A4A"/>
                </a:solidFill>
              </a:rPr>
              <a:t>劳动合同的必备条款</a:t>
            </a:r>
          </a:p>
        </p:txBody>
      </p:sp>
      <p:sp>
        <p:nvSpPr>
          <p:cNvPr id="22" name="Rectangle 21"/>
          <p:cNvSpPr/>
          <p:nvPr/>
        </p:nvSpPr>
        <p:spPr>
          <a:xfrm>
            <a:off x="0" y="4937760"/>
            <a:ext cx="9144000" cy="205740"/>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925700"/>
                </a:solidFill>
              </a:rPr>
              <a:t>💡 以上考点请重点记忆，历年考试高频出现！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3D1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6400800" cy="384048"/>
          </a:xfrm>
          <a:prstGeom prst="rect">
            <a:avLst/>
          </a:prstGeom>
          <a:noFill/>
        </p:spPr>
        <p:txBody>
          <a:bodyPr wrap="square" lIns="45720" tIns="27432" rIns="45720" bIns="27432">
            <a:spAutoFit/>
          </a:bodyPr>
          <a:lstStyle/>
          <a:p>
            <a:pPr algn="l"/>
            <a:r>
              <a:rPr sz="2000" b="1" i="0">
                <a:solidFill>
                  <a:srgbClr val="FFFFFF"/>
                </a:solidFill>
              </a:rPr>
              <a:t>📝 历年真题精选</a:t>
            </a:r>
          </a:p>
        </p:txBody>
      </p:sp>
      <p:sp>
        <p:nvSpPr>
          <p:cNvPr id="5" name="TextBox 4"/>
          <p:cNvSpPr txBox="1"/>
          <p:nvPr/>
        </p:nvSpPr>
        <p:spPr>
          <a:xfrm>
            <a:off x="365760" y="548640"/>
            <a:ext cx="8229600" cy="292608"/>
          </a:xfrm>
          <a:prstGeom prst="rect">
            <a:avLst/>
          </a:prstGeom>
          <a:noFill/>
        </p:spPr>
        <p:txBody>
          <a:bodyPr wrap="square" lIns="45720" tIns="27432" rIns="45720" bIns="27432">
            <a:spAutoFit/>
          </a:bodyPr>
          <a:lstStyle/>
          <a:p>
            <a:pPr algn="l"/>
            <a:r>
              <a:rPr sz="1100" b="0" i="0">
                <a:solidFill>
                  <a:srgbClr val="E8ECF2"/>
                </a:solidFill>
              </a:rPr>
              <a:t>建设工程合同和劳动合同法律制度</a:t>
            </a:r>
          </a:p>
        </p:txBody>
      </p:sp>
      <p:sp>
        <p:nvSpPr>
          <p:cNvPr id="6" name="Rectangle 5"/>
          <p:cNvSpPr/>
          <p:nvPr/>
        </p:nvSpPr>
        <p:spPr>
          <a:xfrm>
            <a:off x="228600" y="987552"/>
            <a:ext cx="8686800" cy="45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33272"/>
            <a:ext cx="100584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 y="1033272"/>
            <a:ext cx="987552" cy="274320"/>
          </a:xfrm>
          <a:prstGeom prst="rect">
            <a:avLst/>
          </a:prstGeom>
          <a:noFill/>
        </p:spPr>
        <p:txBody>
          <a:bodyPr wrap="square" lIns="45720" tIns="27432" rIns="45720" bIns="27432">
            <a:spAutoFit/>
          </a:bodyPr>
          <a:lstStyle/>
          <a:p>
            <a:pPr algn="ctr"/>
            <a:r>
              <a:rPr sz="1000" b="1" i="0">
                <a:solidFill>
                  <a:srgbClr val="FFFFFF"/>
                </a:solidFill>
              </a:rPr>
              <a:t>练习 单选</a:t>
            </a:r>
          </a:p>
        </p:txBody>
      </p:sp>
      <p:sp>
        <p:nvSpPr>
          <p:cNvPr id="9" name="TextBox 8"/>
          <p:cNvSpPr txBox="1"/>
          <p:nvPr/>
        </p:nvSpPr>
        <p:spPr>
          <a:xfrm>
            <a:off x="228600" y="1033272"/>
            <a:ext cx="8686800" cy="502920"/>
          </a:xfrm>
          <a:prstGeom prst="rect">
            <a:avLst/>
          </a:prstGeom>
          <a:noFill/>
        </p:spPr>
        <p:txBody>
          <a:bodyPr wrap="square" lIns="1051560" tIns="27432" rIns="1051560" bIns="27432">
            <a:spAutoFit/>
          </a:bodyPr>
          <a:lstStyle/>
          <a:p>
            <a:pPr algn="l"/>
            <a:r>
              <a:rPr sz="1200" b="1" i="0">
                <a:solidFill>
                  <a:srgbClr val="2D3A4A"/>
                </a:solidFill>
              </a:rPr>
              <a:t>【1】请根据本章知识点自行出题，重点关注：合同订立的形式和程序</a:t>
            </a:r>
          </a:p>
        </p:txBody>
      </p:sp>
      <p:sp>
        <p:nvSpPr>
          <p:cNvPr id="10" name="TextBox 9"/>
          <p:cNvSpPr txBox="1"/>
          <p:nvPr/>
        </p:nvSpPr>
        <p:spPr>
          <a:xfrm>
            <a:off x="320040" y="1536192"/>
            <a:ext cx="8412480" cy="548640"/>
          </a:xfrm>
          <a:prstGeom prst="rect">
            <a:avLst/>
          </a:prstGeom>
          <a:noFill/>
        </p:spPr>
        <p:txBody>
          <a:bodyPr wrap="square" lIns="45720" tIns="27432" rIns="45720" bIns="27432">
            <a:spAutoFit/>
          </a:bodyPr>
          <a:lstStyle/>
          <a:p>
            <a:pPr algn="l"/>
            <a:r>
              <a:rPr sz="1100" b="0" i="0">
                <a:solidFill>
                  <a:srgbClr val="2D3A4A"/>
                </a:solidFill>
              </a:rPr>
              <a:t>A. 选项A    B. 选项B
    C. 选项C    D. 选项D</a:t>
            </a:r>
          </a:p>
        </p:txBody>
      </p:sp>
      <p:sp>
        <p:nvSpPr>
          <p:cNvPr id="11" name="Rectangle 10"/>
          <p:cNvSpPr/>
          <p:nvPr/>
        </p:nvSpPr>
        <p:spPr>
          <a:xfrm>
            <a:off x="228600" y="2103120"/>
            <a:ext cx="8686800" cy="512064"/>
          </a:xfrm>
          <a:prstGeom prst="rect">
            <a:avLst/>
          </a:prstGeom>
          <a:solidFill>
            <a:srgbClr val="E8F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2103120"/>
            <a:ext cx="64008" cy="512064"/>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2121408"/>
            <a:ext cx="8412480" cy="475488"/>
          </a:xfrm>
          <a:prstGeom prst="rect">
            <a:avLst/>
          </a:prstGeom>
          <a:noFill/>
        </p:spPr>
        <p:txBody>
          <a:bodyPr wrap="square" lIns="45720" tIns="27432" rIns="45720" bIns="27432">
            <a:spAutoFit/>
          </a:bodyPr>
          <a:lstStyle/>
          <a:p>
            <a:pPr algn="l"/>
            <a:r>
              <a:rPr sz="1100" b="0" i="0">
                <a:solidFill>
                  <a:srgbClr val="145A2E"/>
                </a:solidFill>
              </a:rPr>
              <a:t>✔ 答案：-　　请查阅教材对应章节，自行核对答案。</a:t>
            </a:r>
          </a:p>
        </p:txBody>
      </p:sp>
      <p:sp>
        <p:nvSpPr>
          <p:cNvPr id="14" name="Rectangle 13"/>
          <p:cNvSpPr/>
          <p:nvPr/>
        </p:nvSpPr>
        <p:spPr>
          <a:xfrm>
            <a:off x="0" y="4937760"/>
            <a:ext cx="9144000" cy="2057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4946904"/>
            <a:ext cx="8595360" cy="201168"/>
          </a:xfrm>
          <a:prstGeom prst="rect">
            <a:avLst/>
          </a:prstGeom>
          <a:noFill/>
        </p:spPr>
        <p:txBody>
          <a:bodyPr wrap="square" lIns="45720" tIns="27432" rIns="45720" bIns="27432">
            <a:spAutoFit/>
          </a:bodyPr>
          <a:lstStyle/>
          <a:p>
            <a:pPr algn="ctr"/>
            <a:r>
              <a:rPr sz="1100" b="1" i="0">
                <a:solidFill>
                  <a:srgbClr val="8B4000"/>
                </a:solidFill>
              </a:rPr>
              <a:t>🔥 真题是最好的考点指南，建议反复练习！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Rectangle 1"/>
          <p:cNvSpPr/>
          <p:nvPr/>
        </p:nvSpPr>
        <p:spPr>
          <a:xfrm>
            <a:off x="0" y="0"/>
            <a:ext cx="914400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502920"/>
          </a:xfrm>
          <a:prstGeom prst="rect">
            <a:avLst/>
          </a:prstGeom>
          <a:noFill/>
        </p:spPr>
        <p:txBody>
          <a:bodyPr wrap="square" lIns="45720" tIns="27432" rIns="45720" bIns="27432">
            <a:spAutoFit/>
          </a:bodyPr>
          <a:lstStyle/>
          <a:p>
            <a:pPr algn="ctr"/>
            <a:r>
              <a:rPr sz="2600" b="1" i="0">
                <a:solidFill>
                  <a:srgbClr val="FFFFFF"/>
                </a:solidFill>
              </a:rPr>
              <a:t>今日学习小结</a:t>
            </a:r>
          </a:p>
        </p:txBody>
      </p:sp>
      <p:sp>
        <p:nvSpPr>
          <p:cNvPr id="4" name="TextBox 3"/>
          <p:cNvSpPr txBox="1"/>
          <p:nvPr/>
        </p:nvSpPr>
        <p:spPr>
          <a:xfrm>
            <a:off x="457200" y="777240"/>
            <a:ext cx="8229600" cy="365760"/>
          </a:xfrm>
          <a:prstGeom prst="rect">
            <a:avLst/>
          </a:prstGeom>
          <a:noFill/>
        </p:spPr>
        <p:txBody>
          <a:bodyPr wrap="square" lIns="45720" tIns="27432" rIns="45720" bIns="27432">
            <a:spAutoFit/>
          </a:bodyPr>
          <a:lstStyle/>
          <a:p>
            <a:pPr algn="ctr"/>
            <a:r>
              <a:rPr sz="1600" b="0" i="0">
                <a:solidFill>
                  <a:srgbClr val="008CD7"/>
                </a:solidFill>
              </a:rPr>
              <a:t>建设工程合同和劳动合同法律制度</a:t>
            </a:r>
          </a:p>
        </p:txBody>
      </p:sp>
      <p:sp>
        <p:nvSpPr>
          <p:cNvPr id="5" name="Rectangle 4"/>
          <p:cNvSpPr/>
          <p:nvPr/>
        </p:nvSpPr>
        <p:spPr>
          <a:xfrm>
            <a:off x="9144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325880"/>
            <a:ext cx="2194560" cy="64008"/>
          </a:xfrm>
          <a:prstGeom prst="rect">
            <a:avLst/>
          </a:prstGeom>
          <a:solidFill>
            <a:srgbClr val="008C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63040"/>
            <a:ext cx="2194560" cy="640080"/>
          </a:xfrm>
          <a:prstGeom prst="rect">
            <a:avLst/>
          </a:prstGeom>
          <a:noFill/>
        </p:spPr>
        <p:txBody>
          <a:bodyPr wrap="square" lIns="45720" tIns="27432" rIns="45720" bIns="27432">
            <a:spAutoFit/>
          </a:bodyPr>
          <a:lstStyle/>
          <a:p>
            <a:pPr algn="ctr"/>
            <a:r>
              <a:rPr sz="3800" b="1" i="0">
                <a:solidFill>
                  <a:srgbClr val="008CD7"/>
                </a:solidFill>
              </a:rPr>
              <a:t>4</a:t>
            </a:r>
          </a:p>
        </p:txBody>
      </p:sp>
      <p:sp>
        <p:nvSpPr>
          <p:cNvPr id="8" name="TextBox 7"/>
          <p:cNvSpPr txBox="1"/>
          <p:nvPr/>
        </p:nvSpPr>
        <p:spPr>
          <a:xfrm>
            <a:off x="914400" y="2057400"/>
            <a:ext cx="2194560" cy="320040"/>
          </a:xfrm>
          <a:prstGeom prst="rect">
            <a:avLst/>
          </a:prstGeom>
          <a:noFill/>
        </p:spPr>
        <p:txBody>
          <a:bodyPr wrap="square" lIns="45720" tIns="27432" rIns="45720" bIns="27432">
            <a:spAutoFit/>
          </a:bodyPr>
          <a:lstStyle/>
          <a:p>
            <a:pPr algn="ctr"/>
            <a:r>
              <a:rPr sz="1400" b="0" i="0">
                <a:solidFill>
                  <a:srgbClr val="E8ECF2"/>
                </a:solidFill>
              </a:rPr>
              <a:t>个考点</a:t>
            </a:r>
          </a:p>
        </p:txBody>
      </p:sp>
      <p:sp>
        <p:nvSpPr>
          <p:cNvPr id="9" name="Rectangle 8"/>
          <p:cNvSpPr/>
          <p:nvPr/>
        </p:nvSpPr>
        <p:spPr>
          <a:xfrm>
            <a:off x="36576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0" y="1325880"/>
            <a:ext cx="2194560" cy="64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463040"/>
            <a:ext cx="2194560" cy="640080"/>
          </a:xfrm>
          <a:prstGeom prst="rect">
            <a:avLst/>
          </a:prstGeom>
          <a:noFill/>
        </p:spPr>
        <p:txBody>
          <a:bodyPr wrap="square" lIns="45720" tIns="27432" rIns="45720" bIns="27432">
            <a:spAutoFit/>
          </a:bodyPr>
          <a:lstStyle/>
          <a:p>
            <a:pPr algn="ctr"/>
            <a:r>
              <a:rPr sz="3800" b="1" i="0">
                <a:solidFill>
                  <a:srgbClr val="FFA500"/>
                </a:solidFill>
              </a:rPr>
              <a:t>0</a:t>
            </a:r>
          </a:p>
        </p:txBody>
      </p:sp>
      <p:sp>
        <p:nvSpPr>
          <p:cNvPr id="12" name="TextBox 11"/>
          <p:cNvSpPr txBox="1"/>
          <p:nvPr/>
        </p:nvSpPr>
        <p:spPr>
          <a:xfrm>
            <a:off x="3657600" y="2057400"/>
            <a:ext cx="2194560" cy="320040"/>
          </a:xfrm>
          <a:prstGeom prst="rect">
            <a:avLst/>
          </a:prstGeom>
          <a:noFill/>
        </p:spPr>
        <p:txBody>
          <a:bodyPr wrap="square" lIns="45720" tIns="27432" rIns="45720" bIns="27432">
            <a:spAutoFit/>
          </a:bodyPr>
          <a:lstStyle/>
          <a:p>
            <a:pPr algn="ctr"/>
            <a:r>
              <a:rPr sz="1400" b="0" i="0">
                <a:solidFill>
                  <a:srgbClr val="E8ECF2"/>
                </a:solidFill>
              </a:rPr>
              <a:t>道真题</a:t>
            </a:r>
          </a:p>
        </p:txBody>
      </p:sp>
      <p:sp>
        <p:nvSpPr>
          <p:cNvPr id="13" name="Rectangle 12"/>
          <p:cNvSpPr/>
          <p:nvPr/>
        </p:nvSpPr>
        <p:spPr>
          <a:xfrm>
            <a:off x="6400800" y="1325880"/>
            <a:ext cx="2194560" cy="1143000"/>
          </a:xfrm>
          <a:prstGeom prst="rect">
            <a:avLst/>
          </a:prstGeom>
          <a:solidFill>
            <a:srgbClr val="2A38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325880"/>
            <a:ext cx="2194560" cy="64008"/>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63040"/>
            <a:ext cx="2194560" cy="640080"/>
          </a:xfrm>
          <a:prstGeom prst="rect">
            <a:avLst/>
          </a:prstGeom>
          <a:noFill/>
        </p:spPr>
        <p:txBody>
          <a:bodyPr wrap="square" lIns="45720" tIns="27432" rIns="45720" bIns="27432">
            <a:spAutoFit/>
          </a:bodyPr>
          <a:lstStyle/>
          <a:p>
            <a:pPr algn="ctr"/>
            <a:r>
              <a:rPr sz="3800" b="1" i="0">
                <a:solidFill>
                  <a:srgbClr val="2E8648"/>
                </a:solidFill>
              </a:rPr>
              <a:t>100</a:t>
            </a:r>
          </a:p>
        </p:txBody>
      </p:sp>
      <p:sp>
        <p:nvSpPr>
          <p:cNvPr id="16" name="TextBox 15"/>
          <p:cNvSpPr txBox="1"/>
          <p:nvPr/>
        </p:nvSpPr>
        <p:spPr>
          <a:xfrm>
            <a:off x="6400800" y="2057400"/>
            <a:ext cx="2194560" cy="320040"/>
          </a:xfrm>
          <a:prstGeom prst="rect">
            <a:avLst/>
          </a:prstGeom>
          <a:noFill/>
        </p:spPr>
        <p:txBody>
          <a:bodyPr wrap="square" lIns="45720" tIns="27432" rIns="45720" bIns="27432">
            <a:spAutoFit/>
          </a:bodyPr>
          <a:lstStyle/>
          <a:p>
            <a:pPr algn="ctr"/>
            <a:r>
              <a:rPr sz="1400" b="0" i="0">
                <a:solidFill>
                  <a:srgbClr val="E8ECF2"/>
                </a:solidFill>
              </a:rPr>
              <a:t>分目标</a:t>
            </a:r>
          </a:p>
        </p:txBody>
      </p:sp>
      <p:sp>
        <p:nvSpPr>
          <p:cNvPr id="17" name="Rectangle 16"/>
          <p:cNvSpPr/>
          <p:nvPr/>
        </p:nvSpPr>
        <p:spPr>
          <a:xfrm>
            <a:off x="457200" y="2651760"/>
            <a:ext cx="8229600" cy="347472"/>
          </a:xfrm>
          <a:prstGeom prst="rect">
            <a:avLst/>
          </a:prstGeom>
          <a:solidFill>
            <a:srgbClr val="283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70048"/>
            <a:ext cx="3657600" cy="310896"/>
          </a:xfrm>
          <a:prstGeom prst="rect">
            <a:avLst/>
          </a:prstGeom>
          <a:noFill/>
        </p:spPr>
        <p:txBody>
          <a:bodyPr wrap="square" lIns="45720" tIns="27432" rIns="45720" bIns="27432">
            <a:spAutoFit/>
          </a:bodyPr>
          <a:lstStyle/>
          <a:p>
            <a:pPr algn="l"/>
            <a:r>
              <a:rPr sz="1400" b="1" i="0">
                <a:solidFill>
                  <a:srgbClr val="FFFFFF"/>
                </a:solidFill>
              </a:rPr>
              <a:t>📋 本章学习要点</a:t>
            </a:r>
          </a:p>
        </p:txBody>
      </p:sp>
      <p:sp>
        <p:nvSpPr>
          <p:cNvPr id="19" name="TextBox 18"/>
          <p:cNvSpPr txBox="1"/>
          <p:nvPr/>
        </p:nvSpPr>
        <p:spPr>
          <a:xfrm>
            <a:off x="640080" y="3063240"/>
            <a:ext cx="7863840" cy="347472"/>
          </a:xfrm>
          <a:prstGeom prst="rect">
            <a:avLst/>
          </a:prstGeom>
          <a:noFill/>
        </p:spPr>
        <p:txBody>
          <a:bodyPr wrap="square" lIns="45720" tIns="27432" rIns="45720" bIns="27432">
            <a:spAutoFit/>
          </a:bodyPr>
          <a:lstStyle/>
          <a:p>
            <a:pPr algn="l"/>
            <a:r>
              <a:rPr sz="1200" b="0" i="0">
                <a:solidFill>
                  <a:srgbClr val="E8ECF2"/>
                </a:solidFill>
              </a:rPr>
              <a:t>✓ 科目：建设工程法规及相关知识</a:t>
            </a:r>
          </a:p>
        </p:txBody>
      </p:sp>
      <p:sp>
        <p:nvSpPr>
          <p:cNvPr id="20" name="TextBox 19"/>
          <p:cNvSpPr txBox="1"/>
          <p:nvPr/>
        </p:nvSpPr>
        <p:spPr>
          <a:xfrm>
            <a:off x="640080" y="3392424"/>
            <a:ext cx="7863840" cy="347472"/>
          </a:xfrm>
          <a:prstGeom prst="rect">
            <a:avLst/>
          </a:prstGeom>
          <a:noFill/>
        </p:spPr>
        <p:txBody>
          <a:bodyPr wrap="square" lIns="45720" tIns="27432" rIns="45720" bIns="27432">
            <a:spAutoFit/>
          </a:bodyPr>
          <a:lstStyle/>
          <a:p>
            <a:pPr algn="l"/>
            <a:r>
              <a:rPr sz="1200" b="0" i="0">
                <a:solidFill>
                  <a:srgbClr val="E8ECF2"/>
                </a:solidFill>
              </a:rPr>
              <a:t>✓ 章节：建设工程合同和劳动合同法律制度</a:t>
            </a:r>
          </a:p>
        </p:txBody>
      </p:sp>
      <p:sp>
        <p:nvSpPr>
          <p:cNvPr id="21" name="TextBox 20"/>
          <p:cNvSpPr txBox="1"/>
          <p:nvPr/>
        </p:nvSpPr>
        <p:spPr>
          <a:xfrm>
            <a:off x="640080" y="3721608"/>
            <a:ext cx="7863840" cy="347472"/>
          </a:xfrm>
          <a:prstGeom prst="rect">
            <a:avLst/>
          </a:prstGeom>
          <a:noFill/>
        </p:spPr>
        <p:txBody>
          <a:bodyPr wrap="square" lIns="45720" tIns="27432" rIns="45720" bIns="27432">
            <a:spAutoFit/>
          </a:bodyPr>
          <a:lstStyle/>
          <a:p>
            <a:pPr algn="l"/>
            <a:r>
              <a:rPr sz="1200" b="0" i="0">
                <a:solidFill>
                  <a:srgbClr val="E8ECF2"/>
                </a:solidFill>
              </a:rPr>
              <a:t>✓ 掌握 4 个核心考点，完成 0 道真题练习</a:t>
            </a:r>
          </a:p>
        </p:txBody>
      </p:sp>
      <p:sp>
        <p:nvSpPr>
          <p:cNvPr id="22" name="TextBox 21"/>
          <p:cNvSpPr txBox="1"/>
          <p:nvPr/>
        </p:nvSpPr>
        <p:spPr>
          <a:xfrm>
            <a:off x="640080" y="4050792"/>
            <a:ext cx="7863840" cy="347472"/>
          </a:xfrm>
          <a:prstGeom prst="rect">
            <a:avLst/>
          </a:prstGeom>
          <a:noFill/>
        </p:spPr>
        <p:txBody>
          <a:bodyPr wrap="square" lIns="45720" tIns="27432" rIns="45720" bIns="27432">
            <a:spAutoFit/>
          </a:bodyPr>
          <a:lstStyle/>
          <a:p>
            <a:pPr algn="l"/>
            <a:r>
              <a:rPr sz="1200" b="0" i="0">
                <a:solidFill>
                  <a:srgbClr val="E8ECF2"/>
                </a:solidFill>
              </a:rPr>
              <a:t>✓ 建议：配合教材反复复习，注意与真题对照</a:t>
            </a:r>
          </a:p>
        </p:txBody>
      </p:sp>
      <p:sp>
        <p:nvSpPr>
          <p:cNvPr id="23" name="Rectangle 22"/>
          <p:cNvSpPr/>
          <p:nvPr/>
        </p:nvSpPr>
        <p:spPr>
          <a:xfrm>
            <a:off x="0" y="4663440"/>
            <a:ext cx="9144000" cy="480060"/>
          </a:xfrm>
          <a:prstGeom prst="rect">
            <a:avLst/>
          </a:prstGeom>
          <a:solidFill>
            <a:srgbClr val="16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4690872"/>
            <a:ext cx="8595360" cy="347472"/>
          </a:xfrm>
          <a:prstGeom prst="rect">
            <a:avLst/>
          </a:prstGeom>
          <a:noFill/>
        </p:spPr>
        <p:txBody>
          <a:bodyPr wrap="square" lIns="45720" tIns="27432" rIns="45720" bIns="27432">
            <a:spAutoFit/>
          </a:bodyPr>
          <a:lstStyle/>
          <a:p>
            <a:pPr algn="ctr"/>
            <a:r>
              <a:rPr sz="1200" b="0" i="0">
                <a:solidFill>
                  <a:srgbClr val="E8ECF2"/>
                </a:solidFill>
              </a:rPr>
              <a:t>📊 学习进度：进度：4/39  (10%)     ⏰ 晚上复习时间提醒！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
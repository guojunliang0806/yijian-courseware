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64008" cy="274320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011680" cy="38404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92024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📚 建设工程法规及相关知识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28600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200" b="1" i="0">
                <a:solidFill>
                  <a:srgbClr val="008CD7"/>
                </a:solidFill>
              </a:rPr>
              <a:t>FL-1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7772400" cy="11887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建设工程基本法律知识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54680"/>
            <a:ext cx="7772400" cy="2286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77724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E8ECF2"/>
                </a:solidFill>
              </a:rPr>
              <a:t>📅 2026年03月16日  星期一     进度：1/39  (3%)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681728"/>
            <a:ext cx="8229600" cy="43891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0" i="0">
                <a:solidFill>
                  <a:srgbClr val="E8ECF2"/>
                </a:solidFill>
              </a:rPr>
              <a:t>一级建造师执业资格考试  ·  机电工程管理与实务方向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4114800"/>
            <a:ext cx="32004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32520" y="4114800"/>
            <a:ext cx="320040" cy="32004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457200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章节大纲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E8ECF2"/>
                </a:solidFill>
              </a:rPr>
              <a:t>建设工程法规及相关知识  ›  建设工程基本法律知识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92608" cy="2926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170432"/>
            <a:ext cx="29260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法律体系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47088"/>
            <a:ext cx="292608" cy="2926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" y="1828800"/>
            <a:ext cx="29260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01368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法人制度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05456"/>
            <a:ext cx="292608" cy="2926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" y="2487168"/>
            <a:ext cx="29260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59736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代理制度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63824"/>
            <a:ext cx="292608" cy="2926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" y="3145536"/>
            <a:ext cx="29260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18104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物权制度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1188720"/>
            <a:ext cx="292608" cy="2926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170432"/>
            <a:ext cx="29260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143000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债权制度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847088"/>
            <a:ext cx="292608" cy="2926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1828800"/>
            <a:ext cx="29260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1801368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知识产权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505456"/>
            <a:ext cx="292608" cy="2926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1144" y="2487168"/>
            <a:ext cx="29260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459736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担保制度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3163824"/>
            <a:ext cx="292608" cy="2926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144" y="3145536"/>
            <a:ext cx="29260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118104"/>
            <a:ext cx="356616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税收制度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</a:rPr>
              <a:t>掌握大纲是学习的基础  ·  每个知识点都可能成为考点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45720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核心知识内容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建设工程基本法律知识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24128"/>
            <a:ext cx="8595360" cy="402336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42415"/>
            <a:ext cx="83210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一、法的基本知识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36576" cy="34747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554480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法律体系：由宪法、法律、行政法规、地方性法规/规章构成，效力层级依次降低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48256"/>
            <a:ext cx="36576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宪法：最高效力，其他法律不得与宪法相抵触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23744"/>
            <a:ext cx="36576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2505456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法律：全国人民代表大会及其常委会制定，效力仅次于宪法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99232"/>
            <a:ext cx="36576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2980944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行政法规：国务院制定，效力低于法律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36576" cy="34747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3456432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地方性法规：省级及设区市人大制定，不得与上位法相抵触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</a:rPr>
              <a:t>第 1 部分  ·  请结合教材深入理解记忆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45720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核心知识内容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建设工程基本法律知识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24128"/>
            <a:ext cx="8595360" cy="402336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42415"/>
            <a:ext cx="83210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二、法人制度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36576" cy="34747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554480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法人的条件：①依法成立；②有必要的财产或经费；③有自己的名称、组织机构和场所；④能独立承担民事责任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48256"/>
            <a:ext cx="36576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法人分类：营利法人（有限责任公司、股份有限公司等）、非营利法人、特别法人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23744"/>
            <a:ext cx="36576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2505456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法人的民事行为能力：从成立时产生，到注销时消灭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99232"/>
            <a:ext cx="36576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2980944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法定代表人：依法代表法人从事民事活动，其行为代表法人行为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</a:rPr>
              <a:t>第 2 部分  ·  请结合教材深入理解记忆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45720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核心知识内容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建设工程基本法律知识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24128"/>
            <a:ext cx="8595360" cy="402336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42415"/>
            <a:ext cx="83210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三、代理制度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36576" cy="34747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554480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代理的种类：委托代理（授权委托书）、法定代理、指定代理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48256"/>
            <a:ext cx="36576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代理的特征：以被代理人名义实施；在授权范围内实施；法律后果由被代理人承担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23744"/>
            <a:ext cx="36576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2505456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无权代理：超越代理权、代理权终止后实施的行为，须本人追认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99232"/>
            <a:ext cx="36576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2980944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代理终止：委托代理终止情形——代理期限届满、委托事项完成、被代理人取消委托、代理人辞去委托、代理人死亡或丧失行为能力等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</a:rPr>
              <a:t>第 3 部分  ·  请结合教材深入理解记忆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45720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核心知识内容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建设工程基本法律知识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24128"/>
            <a:ext cx="8595360" cy="402336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42415"/>
            <a:ext cx="83210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四、物权与担保制度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36576" cy="34747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554480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物权分类：所有权、用益物权（土地承包经营权、建设用地使用权、宅基地使用权等）、担保物权（抵押权、质权、留置权）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48256"/>
            <a:ext cx="36576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建设用地使用权：通过出让或划拨方式取得，可转让、抵押、出租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23744"/>
            <a:ext cx="36576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2505456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抵押权：债务人不履行债务时，债权人有权以该抵押财产优先受偿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99232"/>
            <a:ext cx="36576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2980944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留置权：债权人因保管合同、运输合同、加工承揽合同等占有对方财产时享有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74720"/>
            <a:ext cx="36576" cy="34747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3456432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担保方式：保证、抵押、质押、留置、定金（五种）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</a:rPr>
              <a:t>第 4 部分  ·  请结合教材深入理解记忆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45720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核心知识内容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建设工程基本法律知识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24128"/>
            <a:ext cx="8595360" cy="402336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42415"/>
            <a:ext cx="83210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五、知识产权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36576" cy="34747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554480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著作权：作品完成时自动产生，保护期一般为作者终身+50年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48256"/>
            <a:ext cx="36576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专利权：发明专利20年，实用新型和外观设计专利10年（自申请日起）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23744"/>
            <a:ext cx="36576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2505456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商标权：10年，可续展，每次续展10年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99232"/>
            <a:ext cx="36576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2980944"/>
            <a:ext cx="84124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00" b="0" i="0">
                <a:solidFill>
                  <a:srgbClr val="2D3A4A"/>
                </a:solidFill>
              </a:rPr>
              <a:t>建筑作品著作权：建筑师就其设计作品享有著作权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</a:rPr>
              <a:t>第 5 部分  ·  请结合教材深入理解记忆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64008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⭐ 本章考点速记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2296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建设工程基本法律知识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42062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54864" cy="80467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060704"/>
            <a:ext cx="347472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008CD7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60704"/>
            <a:ext cx="3657599" cy="7132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法的效力层级：宪法&gt;法律&gt;行政法规&gt;地方性法规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965960"/>
            <a:ext cx="42062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965960"/>
            <a:ext cx="54864" cy="80467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2020824"/>
            <a:ext cx="347472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008CD7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20824"/>
            <a:ext cx="3657599" cy="7132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法人应当具备的条件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926080"/>
            <a:ext cx="42062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926080"/>
            <a:ext cx="54864" cy="804672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2980944"/>
            <a:ext cx="347472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008CD7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80944"/>
            <a:ext cx="3657599" cy="7132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代理的种类和终止情形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59" y="1005840"/>
            <a:ext cx="42062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9159" y="1005840"/>
            <a:ext cx="54864" cy="8046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8888" y="1060704"/>
            <a:ext cx="347472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59" y="1060704"/>
            <a:ext cx="3657599" cy="7132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用益物权与担保物权的区别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59" y="1965960"/>
            <a:ext cx="42062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09159" y="1965960"/>
            <a:ext cx="54864" cy="8046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8888" y="2020824"/>
            <a:ext cx="347472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59" y="2020824"/>
            <a:ext cx="3657599" cy="7132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知识产权的保护期限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59" y="2926080"/>
            <a:ext cx="42062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9159" y="2926080"/>
            <a:ext cx="54864" cy="8046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18888" y="2980944"/>
            <a:ext cx="347472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59" y="2980944"/>
            <a:ext cx="3657599" cy="7132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保证方式和保证期间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946904"/>
            <a:ext cx="859536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00" b="1" i="0">
                <a:solidFill>
                  <a:srgbClr val="925700"/>
                </a:solidFill>
              </a:rPr>
              <a:t>💡 以上考点请重点记忆，历年考试高频出现！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1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64008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📝 历年真题精选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2296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建设工程基本法律知识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87552"/>
            <a:ext cx="868680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33272"/>
            <a:ext cx="1005840" cy="274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" y="1033272"/>
            <a:ext cx="987552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2023 单选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033272"/>
            <a:ext cx="8686800" cy="502920"/>
          </a:xfrm>
          <a:prstGeom prst="rect">
            <a:avLst/>
          </a:prstGeom>
          <a:noFill/>
        </p:spPr>
        <p:txBody>
          <a:bodyPr wrap="square" lIns="1051560" tIns="27432" rIns="1051560" bIns="27432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【1】根据《民法典》，下列关于代理的说法，正确的是（  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36192"/>
            <a:ext cx="8412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A. 委托代理人只能由自然人担任    B. 无权代理行为须经被代理人追认方有效
    C. 代理人可以以自己的名义实施代理行为    D. 委托代理的授权委托书须经公证方有效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103120"/>
            <a:ext cx="8686800" cy="512064"/>
          </a:xfrm>
          <a:prstGeom prst="rect">
            <a:avLst/>
          </a:prstGeom>
          <a:solidFill>
            <a:srgbClr val="E8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103120"/>
            <a:ext cx="64008" cy="512064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121408"/>
            <a:ext cx="8412480" cy="4754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145A2E"/>
                </a:solidFill>
              </a:rPr>
              <a:t>✔ 答案：B　　无权代理须经本人追认。A错误，法人也可做代理人。C错误，代理人须以被代理人名义。D错误，一般授权委托书无需公证。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816352"/>
            <a:ext cx="868680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862072"/>
            <a:ext cx="1005840" cy="274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" y="2862072"/>
            <a:ext cx="987552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2022 单选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2862072"/>
            <a:ext cx="8686800" cy="502920"/>
          </a:xfrm>
          <a:prstGeom prst="rect">
            <a:avLst/>
          </a:prstGeom>
          <a:noFill/>
        </p:spPr>
        <p:txBody>
          <a:bodyPr wrap="square" lIns="1051560" tIns="27432" rIns="1051560" bIns="27432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【2】下列关于法律效力层级的表述，正确的是（  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364992"/>
            <a:ext cx="8412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A. 行政法规的效力高于法律    B. 地方性法规的效力高于行政法规
    C. 宪法具有最高法律效力    D. 部门规章与地方性法规效力相同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931920"/>
            <a:ext cx="8686800" cy="512064"/>
          </a:xfrm>
          <a:prstGeom prst="rect">
            <a:avLst/>
          </a:prstGeom>
          <a:solidFill>
            <a:srgbClr val="E8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931920"/>
            <a:ext cx="64008" cy="512064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3950208"/>
            <a:ext cx="8412480" cy="4754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145A2E"/>
                </a:solidFill>
              </a:rPr>
              <a:t>✔ 答案：C　　法律效力层级：宪法&gt;法律&gt;行政法规&gt;地方性法规/部门规章。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946904"/>
            <a:ext cx="859536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00" b="1" i="0">
                <a:solidFill>
                  <a:srgbClr val="8B4000"/>
                </a:solidFill>
              </a:rPr>
              <a:t>🔥 真题是最好的考点指南，建议反复练习！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D1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64008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📝 历年真题精选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822960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E8ECF2"/>
                </a:solidFill>
              </a:rPr>
              <a:t>建设工程基本法律知识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87552"/>
            <a:ext cx="868680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33272"/>
            <a:ext cx="1005840" cy="274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" y="1033272"/>
            <a:ext cx="987552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2021 多选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033272"/>
            <a:ext cx="8686800" cy="502920"/>
          </a:xfrm>
          <a:prstGeom prst="rect">
            <a:avLst/>
          </a:prstGeom>
          <a:noFill/>
        </p:spPr>
        <p:txBody>
          <a:bodyPr wrap="square" lIns="1051560" tIns="27432" rIns="1051560" bIns="27432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【3】根据《民法典》，担保方式包括（  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36192"/>
            <a:ext cx="8412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A. 保证    B. 抵押
    C. 质押    D. 留置    E. 定金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103120"/>
            <a:ext cx="8686800" cy="512064"/>
          </a:xfrm>
          <a:prstGeom prst="rect">
            <a:avLst/>
          </a:prstGeom>
          <a:solidFill>
            <a:srgbClr val="E8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103120"/>
            <a:ext cx="64008" cy="512064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121408"/>
            <a:ext cx="8412480" cy="4754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145A2E"/>
                </a:solidFill>
              </a:rPr>
              <a:t>✔ 答案：ABCDE　　《民法典》规定的五种担保方式：保证、抵押、质押、留置、定金，缺一不可。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816352"/>
            <a:ext cx="868680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862072"/>
            <a:ext cx="1005840" cy="274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" y="2862072"/>
            <a:ext cx="987552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2020 单选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2862072"/>
            <a:ext cx="8686800" cy="502920"/>
          </a:xfrm>
          <a:prstGeom prst="rect">
            <a:avLst/>
          </a:prstGeom>
          <a:noFill/>
        </p:spPr>
        <p:txBody>
          <a:bodyPr wrap="square" lIns="1051560" tIns="27432" rIns="1051560" bIns="27432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【4】法人应当具备的条件不包括（  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364992"/>
            <a:ext cx="8412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A. 依法成立    B. 有必要的财产或经费
    C. 有自己的名称、组织机构和场所    D. 具有自然人成员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931920"/>
            <a:ext cx="8686800" cy="512064"/>
          </a:xfrm>
          <a:prstGeom prst="rect">
            <a:avLst/>
          </a:prstGeom>
          <a:solidFill>
            <a:srgbClr val="E8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931920"/>
            <a:ext cx="64008" cy="512064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3950208"/>
            <a:ext cx="8412480" cy="4754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100" b="0" i="0">
                <a:solidFill>
                  <a:srgbClr val="145A2E"/>
                </a:solidFill>
              </a:rPr>
              <a:t>✔ 答案：D　　法人的四个条件：依法成立、有财产或经费、有名称/组织/场所、能独立承担民事责任。无需具有自然人成员。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946904"/>
            <a:ext cx="859536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100" b="1" i="0">
                <a:solidFill>
                  <a:srgbClr val="8B4000"/>
                </a:solidFill>
              </a:rPr>
              <a:t>🔥 真题是最好的考点指南，建议反复练习！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今日学习小结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600" b="0" i="0">
                <a:solidFill>
                  <a:srgbClr val="008CD7"/>
                </a:solidFill>
              </a:rPr>
              <a:t>建设工程基本法律知识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2194560" cy="1143000"/>
          </a:xfrm>
          <a:prstGeom prst="rect">
            <a:avLst/>
          </a:prstGeom>
          <a:solidFill>
            <a:srgbClr val="2A3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325880"/>
            <a:ext cx="2194560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19456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3800" b="1" i="0">
                <a:solidFill>
                  <a:srgbClr val="008CD7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1945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0" i="0">
                <a:solidFill>
                  <a:srgbClr val="E8ECF2"/>
                </a:solidFill>
              </a:rPr>
              <a:t>个考点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325880"/>
            <a:ext cx="2194560" cy="1143000"/>
          </a:xfrm>
          <a:prstGeom prst="rect">
            <a:avLst/>
          </a:prstGeom>
          <a:solidFill>
            <a:srgbClr val="2A3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1325880"/>
            <a:ext cx="2194560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463040"/>
            <a:ext cx="219456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3800" b="1" i="0">
                <a:solidFill>
                  <a:srgbClr val="FFA500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57400"/>
            <a:ext cx="21945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0" i="0">
                <a:solidFill>
                  <a:srgbClr val="E8ECF2"/>
                </a:solidFill>
              </a:rPr>
              <a:t>道真题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325880"/>
            <a:ext cx="2194560" cy="1143000"/>
          </a:xfrm>
          <a:prstGeom prst="rect">
            <a:avLst/>
          </a:prstGeom>
          <a:solidFill>
            <a:srgbClr val="2A3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325880"/>
            <a:ext cx="2194560" cy="64008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219456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3800" b="1" i="0">
                <a:solidFill>
                  <a:srgbClr val="2E8648"/>
                </a:solidFill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57400"/>
            <a:ext cx="21945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0" i="0">
                <a:solidFill>
                  <a:srgbClr val="E8ECF2"/>
                </a:solidFill>
              </a:rPr>
              <a:t>分目标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51760"/>
            <a:ext cx="8229600" cy="347472"/>
          </a:xfrm>
          <a:prstGeom prst="rect">
            <a:avLst/>
          </a:prstGeom>
          <a:solidFill>
            <a:srgbClr val="283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670048"/>
            <a:ext cx="3657600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📋 本章学习要点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063240"/>
            <a:ext cx="786384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E8ECF2"/>
                </a:solidFill>
              </a:rPr>
              <a:t>✓ 科目：建设工程法规及相关知识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392424"/>
            <a:ext cx="786384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E8ECF2"/>
                </a:solidFill>
              </a:rPr>
              <a:t>✓ 章节：建设工程基本法律知识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21608"/>
            <a:ext cx="786384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E8ECF2"/>
                </a:solidFill>
              </a:rPr>
              <a:t>✓ 掌握 6 个核心考点，完成 4 道真题练习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50792"/>
            <a:ext cx="786384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0" i="0">
                <a:solidFill>
                  <a:srgbClr val="E8ECF2"/>
                </a:solidFill>
              </a:rPr>
              <a:t>✓ 建议：配合教材反复复习，注意与真题对照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690872"/>
            <a:ext cx="859536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200" b="0" i="0">
                <a:solidFill>
                  <a:srgbClr val="E8ECF2"/>
                </a:solidFill>
              </a:rPr>
              <a:t>📊 学习进度：进度：1/39  (3%)     ⏰ 晚上复习时间提醒！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
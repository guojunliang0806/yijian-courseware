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4C99"/>
                </a:solidFill>
              </a:defRPr>
            </a:pPr>
            <a:r>
              <a:t>一级建造师考试 - 法规科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400">
                <a:solidFill>
                  <a:srgbClr val="808080"/>
                </a:solidFill>
              </a:defRPr>
            </a:pPr>
            <a:r>
              <a:t>建设工程基本法律知识 | 2026年03月16日 星期一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4C99"/>
                </a:solidFill>
              </a:defRPr>
            </a:pPr>
            <a:r>
              <a:t>章节大纲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2000"/>
            </a:pPr>
            <a:r>
              <a:t>• 科目：建设工程法规及相关知识</a:t>
            </a:r>
          </a:p>
          <a:p>
            <a:pPr>
              <a:spcAft>
                <a:spcPts val="1200"/>
              </a:spcAft>
              <a:defRPr sz="2000"/>
            </a:pPr>
            <a:r>
              <a:t>• 章节：建设工程基本法律知识</a:t>
            </a:r>
          </a:p>
          <a:p>
            <a:pPr>
              <a:spcAft>
                <a:spcPts val="1200"/>
              </a:spcAft>
              <a:defRPr sz="2000"/>
            </a:pPr>
            <a:r>
              <a:t>• 章节编号：FL-1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本章学习内容：</a:t>
            </a:r>
          </a:p>
          <a:p>
            <a:pPr>
              <a:spcAft>
                <a:spcPts val="1200"/>
              </a:spcAft>
              <a:defRPr sz="2000"/>
            </a:pPr>
            <a:r>
              <a:t>• 法律体系</a:t>
            </a:r>
          </a:p>
          <a:p>
            <a:pPr>
              <a:spcAft>
                <a:spcPts val="1200"/>
              </a:spcAft>
              <a:defRPr sz="2000"/>
            </a:pPr>
            <a:r>
              <a:t>• 法人制度</a:t>
            </a:r>
          </a:p>
          <a:p>
            <a:pPr>
              <a:spcAft>
                <a:spcPts val="1200"/>
              </a:spcAft>
              <a:defRPr sz="2000"/>
            </a:pPr>
            <a:r>
              <a:t>• 代理制度</a:t>
            </a:r>
          </a:p>
          <a:p>
            <a:pPr>
              <a:spcAft>
                <a:spcPts val="1200"/>
              </a:spcAft>
              <a:defRPr sz="2000"/>
            </a:pPr>
            <a:r>
              <a:t>• 物权制度</a:t>
            </a:r>
          </a:p>
          <a:p>
            <a:pPr>
              <a:spcAft>
                <a:spcPts val="1200"/>
              </a:spcAft>
              <a:defRPr sz="2000"/>
            </a:pPr>
            <a:r>
              <a:t>• 债权制度</a:t>
            </a:r>
          </a:p>
          <a:p>
            <a:pPr>
              <a:spcAft>
                <a:spcPts val="1200"/>
              </a:spcAft>
              <a:defRPr sz="2000"/>
            </a:pPr>
            <a:r>
              <a:t>• 知识产权</a:t>
            </a:r>
          </a:p>
          <a:p>
            <a:pPr>
              <a:spcAft>
                <a:spcPts val="1200"/>
              </a:spcAft>
              <a:defRPr sz="2000"/>
            </a:pPr>
            <a:r>
              <a:t>• 担保制度</a:t>
            </a:r>
          </a:p>
          <a:p>
            <a:pPr>
              <a:spcAft>
                <a:spcPts val="1200"/>
              </a:spcAft>
              <a:defRPr sz="2000"/>
            </a:pPr>
            <a:r>
              <a:t>• 税收制度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4C99"/>
                </a:solidFill>
              </a:defRPr>
            </a:pPr>
            <a:r>
              <a:t>本章核心考点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2000"/>
            </a:pPr>
            <a:r>
              <a:t>• 法的效力层级：宪法&gt;法律&gt;行政法规&gt;地方性法规</a:t>
            </a:r>
          </a:p>
          <a:p>
            <a:pPr>
              <a:spcAft>
                <a:spcPts val="1200"/>
              </a:spcAft>
              <a:defRPr sz="2000"/>
            </a:pPr>
            <a:r>
              <a:t>• 法人应当具备的条件</a:t>
            </a:r>
          </a:p>
          <a:p>
            <a:pPr>
              <a:spcAft>
                <a:spcPts val="1200"/>
              </a:spcAft>
              <a:defRPr sz="2000"/>
            </a:pPr>
            <a:r>
              <a:t>• 代理的种类和终止情形</a:t>
            </a:r>
          </a:p>
          <a:p>
            <a:pPr>
              <a:spcAft>
                <a:spcPts val="1200"/>
              </a:spcAft>
              <a:defRPr sz="2000"/>
            </a:pPr>
            <a:r>
              <a:t>• 用益物权与担保物权的区别</a:t>
            </a:r>
          </a:p>
          <a:p>
            <a:pPr>
              <a:spcAft>
                <a:spcPts val="1200"/>
              </a:spcAft>
              <a:defRPr sz="2000"/>
            </a:pPr>
            <a:r>
              <a:t>• 知识产权的保护期限</a:t>
            </a:r>
          </a:p>
          <a:p>
            <a:pPr>
              <a:spcAft>
                <a:spcPts val="1200"/>
              </a:spcAft>
              <a:defRPr sz="2000"/>
            </a:pPr>
            <a:r>
              <a:t>• 保证方式和保证期间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学习要点总结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br/>
            <a:pPr>
              <a:lnSpc>
                <a:spcPct val="150000"/>
              </a:lnSpc>
              <a:defRPr sz="1800"/>
            </a:pPr>
            <a:r>
              <a:t>本章是建设工程法规及相关知识考试的重点章节，需要重点掌握以下内容：</a:t>
            </a:r>
            <a:br/>
            <a:br/>
            <a:r>
              <a:t>1. 熟记本章的6个核心考点</a:t>
            </a:r>
            <a:br/>
            <a:r>
              <a:t>2. 理解本章大纲中列出的所有知识点</a:t>
            </a:r>
            <a:br/>
            <a:r>
              <a:t>3. 结合历年真题进行练习</a:t>
            </a:r>
            <a:br/>
            <a:r>
              <a:t>4. 注意实际工程中的应用</a:t>
            </a:r>
            <a:br/>
            <a:br/>
            <a:r>
              <a:t>学习建议：</a:t>
            </a:r>
            <a:br/>
            <a:r>
              <a:t>- 建议用时：2-3小时</a:t>
            </a:r>
            <a:br/>
            <a:r>
              <a:t>- 复习方式：阅读教材+做真题</a:t>
            </a:r>
            <a:br/>
            <a:r>
              <a:t>- 重点掌握：核心考点中的高频考点</a:t>
            </a:r>
            <a:br/>
            <a:r>
              <a:t>      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4C99"/>
                </a:solidFill>
              </a:defRPr>
            </a:pPr>
            <a:r>
              <a:t>今日学习打卡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2000"/>
            </a:pPr>
            <a:r>
              <a:t>• ✓ 已完成：建设工程基本法律知识</a:t>
            </a:r>
          </a:p>
          <a:p>
            <a:pPr>
              <a:spcAft>
                <a:spcPts val="1200"/>
              </a:spcAft>
              <a:defRPr sz="2000"/>
            </a:pPr>
            <a:r>
              <a:t>• ✓ 核心考点数：6</a:t>
            </a:r>
          </a:p>
          <a:p>
            <a:pPr>
              <a:spcAft>
                <a:spcPts val="1200"/>
              </a:spcAft>
              <a:defRPr sz="2000"/>
            </a:pPr>
            <a:r>
              <a:t>• ✓ 学习日期：2026年03月16日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保持每日学习，加油！</a:t>
            </a:r>
          </a:p>
          <a:p>
            <a:pPr>
              <a:spcAft>
                <a:spcPts val="1200"/>
              </a:spcAft>
              <a:defRPr sz="2000"/>
            </a:pPr>
            <a:r>
              <a:t>• 距离考试还有{0}天，请持续学习！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
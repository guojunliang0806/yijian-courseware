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914400"/>
            <a:ext cx="64008" cy="2743200"/>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914400"/>
            <a:ext cx="2011680" cy="38404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932688"/>
            <a:ext cx="1920240" cy="347472"/>
          </a:xfrm>
          <a:prstGeom prst="rect">
            <a:avLst/>
          </a:prstGeom>
          <a:noFill/>
        </p:spPr>
        <p:txBody>
          <a:bodyPr wrap="square" lIns="45720" tIns="27432" rIns="45720" bIns="27432">
            <a:spAutoFit/>
          </a:bodyPr>
          <a:lstStyle/>
          <a:p>
            <a:pPr algn="l"/>
            <a:r>
              <a:rPr sz="1300" b="1" i="0">
                <a:solidFill>
                  <a:srgbClr val="FFFFFF"/>
                </a:solidFill>
              </a:rPr>
              <a:t>📚 建设工程法规及相关知识</a:t>
            </a:r>
          </a:p>
        </p:txBody>
      </p:sp>
      <p:sp>
        <p:nvSpPr>
          <p:cNvPr id="6" name="TextBox 5"/>
          <p:cNvSpPr txBox="1"/>
          <p:nvPr/>
        </p:nvSpPr>
        <p:spPr>
          <a:xfrm>
            <a:off x="548640" y="1463040"/>
            <a:ext cx="2286000" cy="457200"/>
          </a:xfrm>
          <a:prstGeom prst="rect">
            <a:avLst/>
          </a:prstGeom>
          <a:noFill/>
        </p:spPr>
        <p:txBody>
          <a:bodyPr wrap="square" lIns="45720" tIns="27432" rIns="45720" bIns="27432">
            <a:spAutoFit/>
          </a:bodyPr>
          <a:lstStyle/>
          <a:p>
            <a:pPr algn="l"/>
            <a:r>
              <a:rPr sz="2200" b="1" i="0">
                <a:solidFill>
                  <a:srgbClr val="008CD7"/>
                </a:solidFill>
              </a:rPr>
              <a:t>FL-2</a:t>
            </a:r>
          </a:p>
        </p:txBody>
      </p:sp>
      <p:sp>
        <p:nvSpPr>
          <p:cNvPr id="7" name="TextBox 6"/>
          <p:cNvSpPr txBox="1"/>
          <p:nvPr/>
        </p:nvSpPr>
        <p:spPr>
          <a:xfrm>
            <a:off x="548640" y="1874519"/>
            <a:ext cx="7772400" cy="1188720"/>
          </a:xfrm>
          <a:prstGeom prst="rect">
            <a:avLst/>
          </a:prstGeom>
          <a:noFill/>
        </p:spPr>
        <p:txBody>
          <a:bodyPr wrap="square" lIns="45720" tIns="27432" rIns="45720" bIns="27432">
            <a:spAutoFit/>
          </a:bodyPr>
          <a:lstStyle/>
          <a:p>
            <a:pPr algn="l"/>
            <a:r>
              <a:rPr sz="3400" b="1" i="0">
                <a:solidFill>
                  <a:srgbClr val="FFFFFF"/>
                </a:solidFill>
              </a:rPr>
              <a:t>施工许可法律制度</a:t>
            </a:r>
          </a:p>
        </p:txBody>
      </p:sp>
      <p:sp>
        <p:nvSpPr>
          <p:cNvPr id="8" name="Rectangle 7"/>
          <p:cNvSpPr/>
          <p:nvPr/>
        </p:nvSpPr>
        <p:spPr>
          <a:xfrm>
            <a:off x="548640" y="3154680"/>
            <a:ext cx="7772400" cy="22860"/>
          </a:xfrm>
          <a:prstGeom prst="rect">
            <a:avLst/>
          </a:prstGeom>
          <a:solidFill>
            <a:srgbClr val="6B7A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291840"/>
            <a:ext cx="7772400" cy="365760"/>
          </a:xfrm>
          <a:prstGeom prst="rect">
            <a:avLst/>
          </a:prstGeom>
          <a:noFill/>
        </p:spPr>
        <p:txBody>
          <a:bodyPr wrap="square" lIns="45720" tIns="27432" rIns="45720" bIns="27432">
            <a:spAutoFit/>
          </a:bodyPr>
          <a:lstStyle/>
          <a:p>
            <a:pPr algn="l"/>
            <a:r>
              <a:rPr sz="1300" b="0" i="0">
                <a:solidFill>
                  <a:srgbClr val="E8ECF2"/>
                </a:solidFill>
              </a:rPr>
              <a:t>📅 2026年03月17日  星期二     进度：2/39  (5%)</a:t>
            </a:r>
          </a:p>
        </p:txBody>
      </p:sp>
      <p:sp>
        <p:nvSpPr>
          <p:cNvPr id="10" name="Rectangle 9"/>
          <p:cNvSpPr/>
          <p:nvPr/>
        </p:nvSpPr>
        <p:spPr>
          <a:xfrm>
            <a:off x="0" y="4663440"/>
            <a:ext cx="9144000" cy="480060"/>
          </a:xfrm>
          <a:prstGeom prst="rect">
            <a:avLst/>
          </a:prstGeom>
          <a:solidFill>
            <a:srgbClr val="16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4681728"/>
            <a:ext cx="8229600" cy="438912"/>
          </a:xfrm>
          <a:prstGeom prst="rect">
            <a:avLst/>
          </a:prstGeom>
          <a:noFill/>
        </p:spPr>
        <p:txBody>
          <a:bodyPr wrap="square" lIns="45720" tIns="27432" rIns="45720" bIns="27432">
            <a:spAutoFit/>
          </a:bodyPr>
          <a:lstStyle/>
          <a:p>
            <a:pPr algn="ctr"/>
            <a:r>
              <a:rPr sz="1300" b="0" i="0">
                <a:solidFill>
                  <a:srgbClr val="E8ECF2"/>
                </a:solidFill>
              </a:rPr>
              <a:t>一级建造师执业资格考试  ·  机电工程管理与实务方向</a:t>
            </a:r>
          </a:p>
        </p:txBody>
      </p:sp>
      <p:sp>
        <p:nvSpPr>
          <p:cNvPr id="12" name="Rectangle 11"/>
          <p:cNvSpPr/>
          <p:nvPr/>
        </p:nvSpPr>
        <p:spPr>
          <a:xfrm>
            <a:off x="8412480" y="4114800"/>
            <a:ext cx="320040" cy="3200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732520" y="4114800"/>
            <a:ext cx="320040" cy="320040"/>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4572000" cy="411480"/>
          </a:xfrm>
          <a:prstGeom prst="rect">
            <a:avLst/>
          </a:prstGeom>
          <a:noFill/>
        </p:spPr>
        <p:txBody>
          <a:bodyPr wrap="square" lIns="45720" tIns="27432" rIns="45720" bIns="27432">
            <a:spAutoFit/>
          </a:bodyPr>
          <a:lstStyle/>
          <a:p>
            <a:pPr algn="l"/>
            <a:r>
              <a:rPr sz="2200" b="1" i="0">
                <a:solidFill>
                  <a:srgbClr val="FFFFFF"/>
                </a:solidFill>
              </a:rPr>
              <a:t>章节大纲</a:t>
            </a:r>
          </a:p>
        </p:txBody>
      </p:sp>
      <p:sp>
        <p:nvSpPr>
          <p:cNvPr id="5" name="TextBox 4"/>
          <p:cNvSpPr txBox="1"/>
          <p:nvPr/>
        </p:nvSpPr>
        <p:spPr>
          <a:xfrm>
            <a:off x="365760" y="548640"/>
            <a:ext cx="8229600" cy="320040"/>
          </a:xfrm>
          <a:prstGeom prst="rect">
            <a:avLst/>
          </a:prstGeom>
          <a:noFill/>
        </p:spPr>
        <p:txBody>
          <a:bodyPr wrap="square" lIns="45720" tIns="27432" rIns="45720" bIns="27432">
            <a:spAutoFit/>
          </a:bodyPr>
          <a:lstStyle/>
          <a:p>
            <a:pPr algn="l"/>
            <a:r>
              <a:rPr sz="1200" b="0" i="0">
                <a:solidFill>
                  <a:srgbClr val="E8ECF2"/>
                </a:solidFill>
              </a:rPr>
              <a:t>建设工程法规及相关知识  ›  施工许可法律制度</a:t>
            </a:r>
          </a:p>
        </p:txBody>
      </p:sp>
      <p:sp>
        <p:nvSpPr>
          <p:cNvPr id="6" name="Rectangle 5"/>
          <p:cNvSpPr/>
          <p:nvPr/>
        </p:nvSpPr>
        <p:spPr>
          <a:xfrm>
            <a:off x="365760" y="1188720"/>
            <a:ext cx="292608" cy="2926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4" y="1170432"/>
            <a:ext cx="292608" cy="320040"/>
          </a:xfrm>
          <a:prstGeom prst="rect">
            <a:avLst/>
          </a:prstGeom>
          <a:noFill/>
        </p:spPr>
        <p:txBody>
          <a:bodyPr wrap="square" lIns="45720" tIns="27432" rIns="45720" bIns="27432">
            <a:spAutoFit/>
          </a:bodyPr>
          <a:lstStyle/>
          <a:p>
            <a:pPr algn="ctr"/>
            <a:r>
              <a:rPr sz="1300" b="1" i="0">
                <a:solidFill>
                  <a:srgbClr val="FFFFFF"/>
                </a:solidFill>
              </a:rPr>
              <a:t>1</a:t>
            </a:r>
          </a:p>
        </p:txBody>
      </p:sp>
      <p:sp>
        <p:nvSpPr>
          <p:cNvPr id="8" name="TextBox 7"/>
          <p:cNvSpPr txBox="1"/>
          <p:nvPr/>
        </p:nvSpPr>
        <p:spPr>
          <a:xfrm>
            <a:off x="731520" y="1143000"/>
            <a:ext cx="3566160" cy="457200"/>
          </a:xfrm>
          <a:prstGeom prst="rect">
            <a:avLst/>
          </a:prstGeom>
          <a:noFill/>
        </p:spPr>
        <p:txBody>
          <a:bodyPr wrap="square" lIns="45720" tIns="27432" rIns="45720" bIns="27432">
            <a:spAutoFit/>
          </a:bodyPr>
          <a:lstStyle/>
          <a:p>
            <a:pPr algn="l"/>
            <a:r>
              <a:rPr sz="1300" b="0" i="0">
                <a:solidFill>
                  <a:srgbClr val="2D3A4A"/>
                </a:solidFill>
              </a:rPr>
              <a:t>施工许可证的申请条件</a:t>
            </a:r>
          </a:p>
        </p:txBody>
      </p:sp>
      <p:sp>
        <p:nvSpPr>
          <p:cNvPr id="9" name="Rectangle 8"/>
          <p:cNvSpPr/>
          <p:nvPr/>
        </p:nvSpPr>
        <p:spPr>
          <a:xfrm>
            <a:off x="365760" y="1847088"/>
            <a:ext cx="292608" cy="2926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4" y="1828800"/>
            <a:ext cx="292608" cy="320040"/>
          </a:xfrm>
          <a:prstGeom prst="rect">
            <a:avLst/>
          </a:prstGeom>
          <a:noFill/>
        </p:spPr>
        <p:txBody>
          <a:bodyPr wrap="square" lIns="45720" tIns="27432" rIns="45720" bIns="27432">
            <a:spAutoFit/>
          </a:bodyPr>
          <a:lstStyle/>
          <a:p>
            <a:pPr algn="ctr"/>
            <a:r>
              <a:rPr sz="1300" b="1" i="0">
                <a:solidFill>
                  <a:srgbClr val="FFFFFF"/>
                </a:solidFill>
              </a:rPr>
              <a:t>2</a:t>
            </a:r>
          </a:p>
        </p:txBody>
      </p:sp>
      <p:sp>
        <p:nvSpPr>
          <p:cNvPr id="11" name="TextBox 10"/>
          <p:cNvSpPr txBox="1"/>
          <p:nvPr/>
        </p:nvSpPr>
        <p:spPr>
          <a:xfrm>
            <a:off x="731520" y="1801368"/>
            <a:ext cx="3566160" cy="457200"/>
          </a:xfrm>
          <a:prstGeom prst="rect">
            <a:avLst/>
          </a:prstGeom>
          <a:noFill/>
        </p:spPr>
        <p:txBody>
          <a:bodyPr wrap="square" lIns="45720" tIns="27432" rIns="45720" bIns="27432">
            <a:spAutoFit/>
          </a:bodyPr>
          <a:lstStyle/>
          <a:p>
            <a:pPr algn="l"/>
            <a:r>
              <a:rPr sz="1300" b="0" i="0">
                <a:solidFill>
                  <a:srgbClr val="2D3A4A"/>
                </a:solidFill>
              </a:rPr>
              <a:t>有效期</a:t>
            </a:r>
          </a:p>
        </p:txBody>
      </p:sp>
      <p:sp>
        <p:nvSpPr>
          <p:cNvPr id="12" name="Rectangle 11"/>
          <p:cNvSpPr/>
          <p:nvPr/>
        </p:nvSpPr>
        <p:spPr>
          <a:xfrm>
            <a:off x="365760" y="2505456"/>
            <a:ext cx="292608" cy="2926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 y="2487168"/>
            <a:ext cx="292608" cy="320040"/>
          </a:xfrm>
          <a:prstGeom prst="rect">
            <a:avLst/>
          </a:prstGeom>
          <a:noFill/>
        </p:spPr>
        <p:txBody>
          <a:bodyPr wrap="square" lIns="45720" tIns="27432" rIns="45720" bIns="27432">
            <a:spAutoFit/>
          </a:bodyPr>
          <a:lstStyle/>
          <a:p>
            <a:pPr algn="ctr"/>
            <a:r>
              <a:rPr sz="1300" b="1" i="0">
                <a:solidFill>
                  <a:srgbClr val="FFFFFF"/>
                </a:solidFill>
              </a:rPr>
              <a:t>3</a:t>
            </a:r>
          </a:p>
        </p:txBody>
      </p:sp>
      <p:sp>
        <p:nvSpPr>
          <p:cNvPr id="14" name="TextBox 13"/>
          <p:cNvSpPr txBox="1"/>
          <p:nvPr/>
        </p:nvSpPr>
        <p:spPr>
          <a:xfrm>
            <a:off x="731520" y="2459736"/>
            <a:ext cx="3566160" cy="457200"/>
          </a:xfrm>
          <a:prstGeom prst="rect">
            <a:avLst/>
          </a:prstGeom>
          <a:noFill/>
        </p:spPr>
        <p:txBody>
          <a:bodyPr wrap="square" lIns="45720" tIns="27432" rIns="45720" bIns="27432">
            <a:spAutoFit/>
          </a:bodyPr>
          <a:lstStyle/>
          <a:p>
            <a:pPr algn="l"/>
            <a:r>
              <a:rPr sz="1300" b="0" i="0">
                <a:solidFill>
                  <a:srgbClr val="2D3A4A"/>
                </a:solidFill>
              </a:rPr>
              <a:t>延期与中止</a:t>
            </a:r>
          </a:p>
        </p:txBody>
      </p:sp>
      <p:sp>
        <p:nvSpPr>
          <p:cNvPr id="15" name="Rectangle 14"/>
          <p:cNvSpPr/>
          <p:nvPr/>
        </p:nvSpPr>
        <p:spPr>
          <a:xfrm>
            <a:off x="4572000" y="1188720"/>
            <a:ext cx="292608" cy="2926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81144" y="1170432"/>
            <a:ext cx="292608" cy="320040"/>
          </a:xfrm>
          <a:prstGeom prst="rect">
            <a:avLst/>
          </a:prstGeom>
          <a:noFill/>
        </p:spPr>
        <p:txBody>
          <a:bodyPr wrap="square" lIns="45720" tIns="27432" rIns="45720" bIns="27432">
            <a:spAutoFit/>
          </a:bodyPr>
          <a:lstStyle/>
          <a:p>
            <a:pPr algn="ctr"/>
            <a:r>
              <a:rPr sz="1300" b="1" i="0">
                <a:solidFill>
                  <a:srgbClr val="FFFFFF"/>
                </a:solidFill>
              </a:rPr>
              <a:t>4</a:t>
            </a:r>
          </a:p>
        </p:txBody>
      </p:sp>
      <p:sp>
        <p:nvSpPr>
          <p:cNvPr id="17" name="TextBox 16"/>
          <p:cNvSpPr txBox="1"/>
          <p:nvPr/>
        </p:nvSpPr>
        <p:spPr>
          <a:xfrm>
            <a:off x="4937760" y="1143000"/>
            <a:ext cx="3566160" cy="457200"/>
          </a:xfrm>
          <a:prstGeom prst="rect">
            <a:avLst/>
          </a:prstGeom>
          <a:noFill/>
        </p:spPr>
        <p:txBody>
          <a:bodyPr wrap="square" lIns="45720" tIns="27432" rIns="45720" bIns="27432">
            <a:spAutoFit/>
          </a:bodyPr>
          <a:lstStyle/>
          <a:p>
            <a:pPr algn="l"/>
            <a:r>
              <a:rPr sz="1300" b="0" i="0">
                <a:solidFill>
                  <a:srgbClr val="2D3A4A"/>
                </a:solidFill>
              </a:rPr>
              <a:t>开工报告</a:t>
            </a:r>
          </a:p>
        </p:txBody>
      </p:sp>
      <p:sp>
        <p:nvSpPr>
          <p:cNvPr id="18" name="Rectangle 17"/>
          <p:cNvSpPr/>
          <p:nvPr/>
        </p:nvSpPr>
        <p:spPr>
          <a:xfrm>
            <a:off x="4572000" y="1847088"/>
            <a:ext cx="292608" cy="2926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81144" y="1828800"/>
            <a:ext cx="292608" cy="320040"/>
          </a:xfrm>
          <a:prstGeom prst="rect">
            <a:avLst/>
          </a:prstGeom>
          <a:noFill/>
        </p:spPr>
        <p:txBody>
          <a:bodyPr wrap="square" lIns="45720" tIns="27432" rIns="45720" bIns="27432">
            <a:spAutoFit/>
          </a:bodyPr>
          <a:lstStyle/>
          <a:p>
            <a:pPr algn="ctr"/>
            <a:r>
              <a:rPr sz="1300" b="1" i="0">
                <a:solidFill>
                  <a:srgbClr val="FFFFFF"/>
                </a:solidFill>
              </a:rPr>
              <a:t>5</a:t>
            </a:r>
          </a:p>
        </p:txBody>
      </p:sp>
      <p:sp>
        <p:nvSpPr>
          <p:cNvPr id="20" name="TextBox 19"/>
          <p:cNvSpPr txBox="1"/>
          <p:nvPr/>
        </p:nvSpPr>
        <p:spPr>
          <a:xfrm>
            <a:off x="4937760" y="1801368"/>
            <a:ext cx="3566160" cy="457200"/>
          </a:xfrm>
          <a:prstGeom prst="rect">
            <a:avLst/>
          </a:prstGeom>
          <a:noFill/>
        </p:spPr>
        <p:txBody>
          <a:bodyPr wrap="square" lIns="45720" tIns="27432" rIns="45720" bIns="27432">
            <a:spAutoFit/>
          </a:bodyPr>
          <a:lstStyle/>
          <a:p>
            <a:pPr algn="l"/>
            <a:r>
              <a:rPr sz="1300" b="0" i="0">
                <a:solidFill>
                  <a:srgbClr val="2D3A4A"/>
                </a:solidFill>
              </a:rPr>
              <a:t>从业资格</a:t>
            </a:r>
          </a:p>
        </p:txBody>
      </p:sp>
      <p:sp>
        <p:nvSpPr>
          <p:cNvPr id="21" name="Rectangle 20"/>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掌握大纲是学习的基础  ·  每个知识点都可能成为考点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一、施工许可证的申请与办理</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【法律依据】《建筑法》第7条：建筑工程开工前，建设单位应当依照本法规定，向工程所在地的县级以上人民政府建设行政主管部门申请领取施工许可证。</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【申请主体】建设单位（非施工单位）向工程所在地县级以上建设行政主管部门申请。</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【不需申请情形】抢险救灾、农村自建低层住宅（依照惯例）、按规定批准开工报告的工程不需申请施工许可证。</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【工程规模限制】工程投资额在30万元以下或建筑面积在300m²以下的建筑工程，可以不申请办理施工许可证（具体由省级规定）。</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【办理时限】发证机关收到申请之日起15日内，作出是否颁发施工许可证的决定。</a:t>
            </a:r>
          </a:p>
        </p:txBody>
      </p:sp>
      <p:sp>
        <p:nvSpPr>
          <p:cNvPr id="18" name="Rectangle 17"/>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1 部分  ·  请结合教材深入理解记忆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二、施工许可证申请条件（9项必备条件，重中之重）</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【条件①】已办理工程用地批准手续——取得土地使用权（出让或划拨）方可。</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【条件②】依法应当办理建设工程规划许可证的，已取得建设工程规划许可证——规划许可是施工许可的前提。</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【条件③】施工场地已基本具备施工条件，需要拆迁的，其拆迁进度符合施工要求——注意是【基本具备】非【完全具备】。</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【条件④】已确定施工企业——须具有相应资质等级的施工企业，且签订了施工合同。</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【条件⑤】有满足施工需要的技术资料，施工图设计文件已按规定审查合格——施工图须经图审机构审查合格。</a:t>
            </a:r>
          </a:p>
        </p:txBody>
      </p:sp>
      <p:sp>
        <p:nvSpPr>
          <p:cNvPr id="18" name="Rectangle 17"/>
          <p:cNvSpPr/>
          <p:nvPr/>
        </p:nvSpPr>
        <p:spPr>
          <a:xfrm>
            <a:off x="274320" y="3950208"/>
            <a:ext cx="36576"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 y="3931920"/>
            <a:ext cx="8412480" cy="502920"/>
          </a:xfrm>
          <a:prstGeom prst="rect">
            <a:avLst/>
          </a:prstGeom>
          <a:noFill/>
        </p:spPr>
        <p:txBody>
          <a:bodyPr wrap="square" lIns="45720" tIns="27432" rIns="45720" bIns="27432">
            <a:spAutoFit/>
          </a:bodyPr>
          <a:lstStyle/>
          <a:p>
            <a:pPr algn="l"/>
            <a:r>
              <a:rPr sz="1300" b="0" i="0">
                <a:solidFill>
                  <a:srgbClr val="2D3A4A"/>
                </a:solidFill>
              </a:rPr>
              <a:t>【条件⑥】有保证工程质量和安全的具体措施——施工单位编制的施工组织设计中须有安全、质量保证措施。</a:t>
            </a:r>
          </a:p>
        </p:txBody>
      </p:sp>
      <p:sp>
        <p:nvSpPr>
          <p:cNvPr id="20" name="Rectangle 19"/>
          <p:cNvSpPr/>
          <p:nvPr/>
        </p:nvSpPr>
        <p:spPr>
          <a:xfrm>
            <a:off x="274320" y="4425696"/>
            <a:ext cx="36576" cy="347472"/>
          </a:xfrm>
          <a:prstGeom prst="rect">
            <a:avLst/>
          </a:prstGeom>
          <a:solidFill>
            <a:srgbClr val="277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4407408"/>
            <a:ext cx="8412480" cy="502920"/>
          </a:xfrm>
          <a:prstGeom prst="rect">
            <a:avLst/>
          </a:prstGeom>
          <a:noFill/>
        </p:spPr>
        <p:txBody>
          <a:bodyPr wrap="square" lIns="45720" tIns="27432" rIns="45720" bIns="27432">
            <a:spAutoFit/>
          </a:bodyPr>
          <a:lstStyle/>
          <a:p>
            <a:pPr algn="l"/>
            <a:r>
              <a:rPr sz="1300" b="0" i="0">
                <a:solidFill>
                  <a:srgbClr val="2D3A4A"/>
                </a:solidFill>
              </a:rPr>
              <a:t>【条件⑦】按照规定应当委托监理的工程已委托监理——必须监理的工程须已签订委托监理合同。</a:t>
            </a:r>
          </a:p>
        </p:txBody>
      </p:sp>
      <p:sp>
        <p:nvSpPr>
          <p:cNvPr id="22" name="Rectangle 21"/>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2 部分  ·  请结合教材深入理解记忆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三、施工许可证的有效期与延期（数字考点）</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【开工期限】建设单位取得施工许可证后，应当自开工之日起3个月内开工（注意：是3个月，不是1个月）。</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【延期申请】因故不能按期开工，应向发证机关申请延期，延期以2次为限，每次不超过3个月。即最多可延期6个月。</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【逾期自动失效】建设单位超过3个月（含延期期限）未开工的，施工许可证自动失效，需重新申请。</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【中止施工报告】施工中止的，建设单位应向发证机关报告。中止施工满1年，继续施工时，建设单位应向发证机关报告。</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【注销情形】中止施工满1年的，发证机关可以注销施工许可证。</a:t>
            </a:r>
          </a:p>
        </p:txBody>
      </p:sp>
      <p:sp>
        <p:nvSpPr>
          <p:cNvPr id="18" name="Rectangle 17"/>
          <p:cNvSpPr/>
          <p:nvPr/>
        </p:nvSpPr>
        <p:spPr>
          <a:xfrm>
            <a:off x="274320" y="3950208"/>
            <a:ext cx="36576"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 y="3931920"/>
            <a:ext cx="8412480" cy="502920"/>
          </a:xfrm>
          <a:prstGeom prst="rect">
            <a:avLst/>
          </a:prstGeom>
          <a:noFill/>
        </p:spPr>
        <p:txBody>
          <a:bodyPr wrap="square" lIns="45720" tIns="27432" rIns="45720" bIns="27432">
            <a:spAutoFit/>
          </a:bodyPr>
          <a:lstStyle/>
          <a:p>
            <a:pPr algn="l"/>
            <a:r>
              <a:rPr sz="1300" b="0" i="0">
                <a:solidFill>
                  <a:srgbClr val="2D3A4A"/>
                </a:solidFill>
              </a:rPr>
              <a:t>【核验要求】建设单位应保证施工许可证正本在施工现场公示，以备有关部门核验。</a:t>
            </a:r>
          </a:p>
        </p:txBody>
      </p:sp>
      <p:sp>
        <p:nvSpPr>
          <p:cNvPr id="20" name="Rectangle 19"/>
          <p:cNvSpPr/>
          <p:nvPr/>
        </p:nvSpPr>
        <p:spPr>
          <a:xfrm>
            <a:off x="274320" y="4425696"/>
            <a:ext cx="36576" cy="347472"/>
          </a:xfrm>
          <a:prstGeom prst="rect">
            <a:avLst/>
          </a:prstGeom>
          <a:solidFill>
            <a:srgbClr val="277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4407408"/>
            <a:ext cx="8412480" cy="502920"/>
          </a:xfrm>
          <a:prstGeom prst="rect">
            <a:avLst/>
          </a:prstGeom>
          <a:noFill/>
        </p:spPr>
        <p:txBody>
          <a:bodyPr wrap="square" lIns="45720" tIns="27432" rIns="45720" bIns="27432">
            <a:spAutoFit/>
          </a:bodyPr>
          <a:lstStyle/>
          <a:p>
            <a:pPr algn="l"/>
            <a:r>
              <a:rPr sz="1300" b="0" i="0">
                <a:solidFill>
                  <a:srgbClr val="2D3A4A"/>
                </a:solidFill>
              </a:rPr>
              <a:t>【记忆口诀】3个月内开工，2次延期每次3个月，中止满1年可注销。</a:t>
            </a:r>
          </a:p>
        </p:txBody>
      </p:sp>
      <p:sp>
        <p:nvSpPr>
          <p:cNvPr id="22" name="Rectangle 21"/>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3 部分  ·  请结合教材深入理解记忆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四、施工企业资质管理（资质序列与等级）</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【资质序列】施工企业资质分为三大序列：施工总承包资质、专业承包资质、劳务分包资质。</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【施工总承包资质等级】分为特级、一级、二级、三级（房建、市政等主要门类；特级企业可承接任何规模）。</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【专业承包资质等级】一般分为一级、二级、三级（如地基基础、钢结构、消防等专业）。</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【劳务分包资质】不分等级，只有一个级别。</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【资质申请】企业向所在地省级建设主管部门申请，经审核后报住建部审批（特级须报住建部）。</a:t>
            </a:r>
          </a:p>
        </p:txBody>
      </p:sp>
      <p:sp>
        <p:nvSpPr>
          <p:cNvPr id="18" name="Rectangle 17"/>
          <p:cNvSpPr/>
          <p:nvPr/>
        </p:nvSpPr>
        <p:spPr>
          <a:xfrm>
            <a:off x="274320" y="3950208"/>
            <a:ext cx="36576"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 y="3931920"/>
            <a:ext cx="8412480" cy="502920"/>
          </a:xfrm>
          <a:prstGeom prst="rect">
            <a:avLst/>
          </a:prstGeom>
          <a:noFill/>
        </p:spPr>
        <p:txBody>
          <a:bodyPr wrap="square" lIns="45720" tIns="27432" rIns="45720" bIns="27432">
            <a:spAutoFit/>
          </a:bodyPr>
          <a:lstStyle/>
          <a:p>
            <a:pPr algn="l"/>
            <a:r>
              <a:rPr sz="1300" b="0" i="0">
                <a:solidFill>
                  <a:srgbClr val="2D3A4A"/>
                </a:solidFill>
              </a:rPr>
              <a:t>【超越资质的后果】超越资质等级承包工程属违法行为：责令改正，没收违法所得；处以工程合同价款2%~4%罚款；情节严重的，吊销资质证书，承担连带责任。</a:t>
            </a:r>
          </a:p>
        </p:txBody>
      </p:sp>
      <p:sp>
        <p:nvSpPr>
          <p:cNvPr id="20" name="Rectangle 19"/>
          <p:cNvSpPr/>
          <p:nvPr/>
        </p:nvSpPr>
        <p:spPr>
          <a:xfrm>
            <a:off x="274320" y="4425696"/>
            <a:ext cx="36576" cy="347472"/>
          </a:xfrm>
          <a:prstGeom prst="rect">
            <a:avLst/>
          </a:prstGeom>
          <a:solidFill>
            <a:srgbClr val="277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4407408"/>
            <a:ext cx="8412480" cy="502920"/>
          </a:xfrm>
          <a:prstGeom prst="rect">
            <a:avLst/>
          </a:prstGeom>
          <a:noFill/>
        </p:spPr>
        <p:txBody>
          <a:bodyPr wrap="square" lIns="45720" tIns="27432" rIns="45720" bIns="27432">
            <a:spAutoFit/>
          </a:bodyPr>
          <a:lstStyle/>
          <a:p>
            <a:pPr algn="l"/>
            <a:r>
              <a:rPr sz="1300" b="0" i="0">
                <a:solidFill>
                  <a:srgbClr val="2D3A4A"/>
                </a:solidFill>
              </a:rPr>
              <a:t>【挂靠】以他人名义承揽工程（挂靠）属违法，吊销资质证书，没收违法所得。</a:t>
            </a:r>
          </a:p>
        </p:txBody>
      </p:sp>
      <p:sp>
        <p:nvSpPr>
          <p:cNvPr id="22" name="Rectangle 21"/>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4 部分  ·  请结合教材深入理解记忆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五、注册建造师制度（执业资格）</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【设立目的】实施建造师执业资格制度，以提高建设工程项目管理水平，保证工程质量和安全。</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【分级】一级建造师：全国统一考试；二级建造师：省级统一考试。</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【注册】取得证书后须向省级主管部门申请注册，方可执业。注册有效期3年，届满须续注册。</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【执业范围】担任建设工程项目施工的项目经理；从事其他施工活动的管理；法规或合同规定的其他职责。</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【不予注册情形】①不具有完全民事行为能力；②申请在两个及以上单位注册；③受到刑事处罚且执行期满不足5年；④被吊销注册证书且不足5年；⑤年龄超过65周岁；⑥法律法规规定的其他情形。</a:t>
            </a:r>
          </a:p>
        </p:txBody>
      </p:sp>
      <p:sp>
        <p:nvSpPr>
          <p:cNvPr id="18" name="Rectangle 17"/>
          <p:cNvSpPr/>
          <p:nvPr/>
        </p:nvSpPr>
        <p:spPr>
          <a:xfrm>
            <a:off x="274320" y="3950208"/>
            <a:ext cx="36576"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 y="3931920"/>
            <a:ext cx="8412480" cy="502920"/>
          </a:xfrm>
          <a:prstGeom prst="rect">
            <a:avLst/>
          </a:prstGeom>
          <a:noFill/>
        </p:spPr>
        <p:txBody>
          <a:bodyPr wrap="square" lIns="45720" tIns="27432" rIns="45720" bIns="27432">
            <a:spAutoFit/>
          </a:bodyPr>
          <a:lstStyle/>
          <a:p>
            <a:pPr algn="l"/>
            <a:r>
              <a:rPr sz="1300" b="0" i="0">
                <a:solidFill>
                  <a:srgbClr val="2D3A4A"/>
                </a:solidFill>
              </a:rPr>
              <a:t>【撤销注册情形】以欺骗手段取得注册；违规许可他人以本人名义承揽工程；同时在两个以上单位受聘；注册后达到不予注册情形。</a:t>
            </a:r>
          </a:p>
        </p:txBody>
      </p:sp>
      <p:sp>
        <p:nvSpPr>
          <p:cNvPr id="20" name="Rectangle 19"/>
          <p:cNvSpPr/>
          <p:nvPr/>
        </p:nvSpPr>
        <p:spPr>
          <a:xfrm>
            <a:off x="274320" y="4425696"/>
            <a:ext cx="36576" cy="347472"/>
          </a:xfrm>
          <a:prstGeom prst="rect">
            <a:avLst/>
          </a:prstGeom>
          <a:solidFill>
            <a:srgbClr val="277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4407408"/>
            <a:ext cx="8412480" cy="502920"/>
          </a:xfrm>
          <a:prstGeom prst="rect">
            <a:avLst/>
          </a:prstGeom>
          <a:noFill/>
        </p:spPr>
        <p:txBody>
          <a:bodyPr wrap="square" lIns="45720" tIns="27432" rIns="45720" bIns="27432">
            <a:spAutoFit/>
          </a:bodyPr>
          <a:lstStyle/>
          <a:p>
            <a:pPr algn="l"/>
            <a:r>
              <a:rPr sz="1300" b="0" i="0">
                <a:solidFill>
                  <a:srgbClr val="2D3A4A"/>
                </a:solidFill>
              </a:rPr>
              <a:t>【项目经理要求】大型工程须由一级建造师担任项目经理；建造师只能在一家企业注册，不得同时在多个工程担任项目经理。</a:t>
            </a:r>
          </a:p>
        </p:txBody>
      </p:sp>
      <p:sp>
        <p:nvSpPr>
          <p:cNvPr id="22" name="Rectangle 21"/>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5 部分  ·  请结合教材深入理解记忆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六、开工报告制度（与施工许可证的区别）</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【开工报告适用范围】按照国务院规定的权限和程序批准开工报告的建筑工程，不需要领取施工许可证。</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【开工报告程序】建设单位按规定报批开工报告，经批准后方可开工（适用于军事工程、重大政府投资项目等特殊情形）。</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【两者区别】施工许可证：适用于一般建筑工程，由建设行政主管部门颁发；开工报告：适用于特殊工程，按国务院规定程序批准。</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【法律责任】未依法取得施工许可证擅自施工的：责令停止施工，限期改正，处以1万元~3万元罚款。</a:t>
            </a:r>
          </a:p>
        </p:txBody>
      </p:sp>
      <p:sp>
        <p:nvSpPr>
          <p:cNvPr id="16" name="Rectangle 15"/>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6 部分  ·  请结合教材深入理解记忆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七、高频考点速记总结</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【数字记忆】资金50%（工期&lt;1年）、30%（工期&gt;1年）；3个月内开工；延期2次×3个月=最多6个月；中止满1年可注销；注册有效期3年。</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【申请主体】施工许可证由建设单位申请（不是施工单位）。</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【资质序列】总承包、专业承包、劳务分包（三序列）；劳务分包不分等级。</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【超资质后果】没收违法所得+合同价款2%~4%罚款+情节严重吊销资质。</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【建造师注册】有效期3年；同一时间只能注册在一家单位；65岁以上不予注册。</a:t>
            </a:r>
          </a:p>
        </p:txBody>
      </p:sp>
      <p:sp>
        <p:nvSpPr>
          <p:cNvPr id="18" name="Rectangle 17"/>
          <p:cNvSpPr/>
          <p:nvPr/>
        </p:nvSpPr>
        <p:spPr>
          <a:xfrm>
            <a:off x="274320" y="3950208"/>
            <a:ext cx="36576"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 y="3931920"/>
            <a:ext cx="8412480" cy="502920"/>
          </a:xfrm>
          <a:prstGeom prst="rect">
            <a:avLst/>
          </a:prstGeom>
          <a:noFill/>
        </p:spPr>
        <p:txBody>
          <a:bodyPr wrap="square" lIns="45720" tIns="27432" rIns="45720" bIns="27432">
            <a:spAutoFit/>
          </a:bodyPr>
          <a:lstStyle/>
          <a:p>
            <a:pPr algn="l"/>
            <a:r>
              <a:rPr sz="1300" b="0" i="0">
                <a:solidFill>
                  <a:srgbClr val="2D3A4A"/>
                </a:solidFill>
              </a:rPr>
              <a:t>【未取许可证施工】1万~3万元罚款。</a:t>
            </a:r>
          </a:p>
        </p:txBody>
      </p:sp>
      <p:sp>
        <p:nvSpPr>
          <p:cNvPr id="20" name="Rectangle 19"/>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7 部分  ·  请结合教材深入理解记忆</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6400800" cy="384048"/>
          </a:xfrm>
          <a:prstGeom prst="rect">
            <a:avLst/>
          </a:prstGeom>
          <a:noFill/>
        </p:spPr>
        <p:txBody>
          <a:bodyPr wrap="square" lIns="45720" tIns="27432" rIns="45720" bIns="27432">
            <a:spAutoFit/>
          </a:bodyPr>
          <a:lstStyle/>
          <a:p>
            <a:pPr algn="l"/>
            <a:r>
              <a:rPr sz="2000" b="1" i="0">
                <a:solidFill>
                  <a:srgbClr val="FFFFFF"/>
                </a:solidFill>
              </a:rPr>
              <a:t>⭐ 本章考点速记</a:t>
            </a:r>
          </a:p>
        </p:txBody>
      </p:sp>
      <p:sp>
        <p:nvSpPr>
          <p:cNvPr id="5" name="TextBox 4"/>
          <p:cNvSpPr txBox="1"/>
          <p:nvPr/>
        </p:nvSpPr>
        <p:spPr>
          <a:xfrm>
            <a:off x="365760" y="548640"/>
            <a:ext cx="8229600" cy="292608"/>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28600" y="1005840"/>
            <a:ext cx="4206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005840"/>
            <a:ext cx="54864" cy="8046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 y="1060704"/>
            <a:ext cx="347472" cy="320040"/>
          </a:xfrm>
          <a:prstGeom prst="rect">
            <a:avLst/>
          </a:prstGeom>
          <a:noFill/>
        </p:spPr>
        <p:txBody>
          <a:bodyPr wrap="square" lIns="45720" tIns="27432" rIns="45720" bIns="27432">
            <a:spAutoFit/>
          </a:bodyPr>
          <a:lstStyle/>
          <a:p>
            <a:pPr algn="l"/>
            <a:r>
              <a:rPr sz="1400" b="1" i="0">
                <a:solidFill>
                  <a:srgbClr val="008CD7"/>
                </a:solidFill>
              </a:rPr>
              <a:t>01</a:t>
            </a:r>
          </a:p>
        </p:txBody>
      </p:sp>
      <p:sp>
        <p:nvSpPr>
          <p:cNvPr id="9" name="TextBox 8"/>
          <p:cNvSpPr txBox="1"/>
          <p:nvPr/>
        </p:nvSpPr>
        <p:spPr>
          <a:xfrm>
            <a:off x="685800" y="1060704"/>
            <a:ext cx="3657599" cy="713232"/>
          </a:xfrm>
          <a:prstGeom prst="rect">
            <a:avLst/>
          </a:prstGeom>
          <a:noFill/>
        </p:spPr>
        <p:txBody>
          <a:bodyPr wrap="square" lIns="45720" tIns="27432" rIns="45720" bIns="27432">
            <a:spAutoFit/>
          </a:bodyPr>
          <a:lstStyle/>
          <a:p>
            <a:pPr algn="l"/>
            <a:r>
              <a:rPr sz="1200" b="0" i="0">
                <a:solidFill>
                  <a:srgbClr val="2D3A4A"/>
                </a:solidFill>
              </a:rPr>
              <a:t>施工许可证申请的9项条件</a:t>
            </a:r>
          </a:p>
        </p:txBody>
      </p:sp>
      <p:sp>
        <p:nvSpPr>
          <p:cNvPr id="10" name="Rectangle 9"/>
          <p:cNvSpPr/>
          <p:nvPr/>
        </p:nvSpPr>
        <p:spPr>
          <a:xfrm>
            <a:off x="228600" y="1965960"/>
            <a:ext cx="4206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965960"/>
            <a:ext cx="54864" cy="8046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 y="2020824"/>
            <a:ext cx="347472" cy="320040"/>
          </a:xfrm>
          <a:prstGeom prst="rect">
            <a:avLst/>
          </a:prstGeom>
          <a:noFill/>
        </p:spPr>
        <p:txBody>
          <a:bodyPr wrap="square" lIns="45720" tIns="27432" rIns="45720" bIns="27432">
            <a:spAutoFit/>
          </a:bodyPr>
          <a:lstStyle/>
          <a:p>
            <a:pPr algn="l"/>
            <a:r>
              <a:rPr sz="1400" b="1" i="0">
                <a:solidFill>
                  <a:srgbClr val="008CD7"/>
                </a:solidFill>
              </a:rPr>
              <a:t>02</a:t>
            </a:r>
          </a:p>
        </p:txBody>
      </p:sp>
      <p:sp>
        <p:nvSpPr>
          <p:cNvPr id="13" name="TextBox 12"/>
          <p:cNvSpPr txBox="1"/>
          <p:nvPr/>
        </p:nvSpPr>
        <p:spPr>
          <a:xfrm>
            <a:off x="685800" y="2020824"/>
            <a:ext cx="3657599" cy="713232"/>
          </a:xfrm>
          <a:prstGeom prst="rect">
            <a:avLst/>
          </a:prstGeom>
          <a:noFill/>
        </p:spPr>
        <p:txBody>
          <a:bodyPr wrap="square" lIns="45720" tIns="27432" rIns="45720" bIns="27432">
            <a:spAutoFit/>
          </a:bodyPr>
          <a:lstStyle/>
          <a:p>
            <a:pPr algn="l"/>
            <a:r>
              <a:rPr sz="1200" b="0" i="0">
                <a:solidFill>
                  <a:srgbClr val="2D3A4A"/>
                </a:solidFill>
              </a:rPr>
              <a:t>施工许可证的有效期和延期规定</a:t>
            </a:r>
          </a:p>
        </p:txBody>
      </p:sp>
      <p:sp>
        <p:nvSpPr>
          <p:cNvPr id="14" name="Rectangle 13"/>
          <p:cNvSpPr/>
          <p:nvPr/>
        </p:nvSpPr>
        <p:spPr>
          <a:xfrm>
            <a:off x="4709159" y="1005840"/>
            <a:ext cx="4206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09159" y="1005840"/>
            <a:ext cx="5486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1060704"/>
            <a:ext cx="347472" cy="320040"/>
          </a:xfrm>
          <a:prstGeom prst="rect">
            <a:avLst/>
          </a:prstGeom>
          <a:noFill/>
        </p:spPr>
        <p:txBody>
          <a:bodyPr wrap="square" lIns="45720" tIns="27432" rIns="45720" bIns="27432">
            <a:spAutoFit/>
          </a:bodyPr>
          <a:lstStyle/>
          <a:p>
            <a:pPr algn="l"/>
            <a:r>
              <a:rPr sz="1400" b="1" i="0">
                <a:solidFill>
                  <a:srgbClr val="FFA500"/>
                </a:solidFill>
              </a:rPr>
              <a:t>03</a:t>
            </a:r>
          </a:p>
        </p:txBody>
      </p:sp>
      <p:sp>
        <p:nvSpPr>
          <p:cNvPr id="17" name="TextBox 16"/>
          <p:cNvSpPr txBox="1"/>
          <p:nvPr/>
        </p:nvSpPr>
        <p:spPr>
          <a:xfrm>
            <a:off x="5166359" y="1060704"/>
            <a:ext cx="3657599" cy="713232"/>
          </a:xfrm>
          <a:prstGeom prst="rect">
            <a:avLst/>
          </a:prstGeom>
          <a:noFill/>
        </p:spPr>
        <p:txBody>
          <a:bodyPr wrap="square" lIns="45720" tIns="27432" rIns="45720" bIns="27432">
            <a:spAutoFit/>
          </a:bodyPr>
          <a:lstStyle/>
          <a:p>
            <a:pPr algn="l"/>
            <a:r>
              <a:rPr sz="1200" b="0" i="0">
                <a:solidFill>
                  <a:srgbClr val="2D3A4A"/>
                </a:solidFill>
              </a:rPr>
              <a:t>施工企业资质序列和分类</a:t>
            </a:r>
          </a:p>
        </p:txBody>
      </p:sp>
      <p:sp>
        <p:nvSpPr>
          <p:cNvPr id="18" name="Rectangle 17"/>
          <p:cNvSpPr/>
          <p:nvPr/>
        </p:nvSpPr>
        <p:spPr>
          <a:xfrm>
            <a:off x="4709159" y="1965960"/>
            <a:ext cx="4206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09159" y="1965960"/>
            <a:ext cx="5486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18888" y="2020824"/>
            <a:ext cx="347472" cy="320040"/>
          </a:xfrm>
          <a:prstGeom prst="rect">
            <a:avLst/>
          </a:prstGeom>
          <a:noFill/>
        </p:spPr>
        <p:txBody>
          <a:bodyPr wrap="square" lIns="45720" tIns="27432" rIns="45720" bIns="27432">
            <a:spAutoFit/>
          </a:bodyPr>
          <a:lstStyle/>
          <a:p>
            <a:pPr algn="l"/>
            <a:r>
              <a:rPr sz="1400" b="1" i="0">
                <a:solidFill>
                  <a:srgbClr val="FFA500"/>
                </a:solidFill>
              </a:rPr>
              <a:t>04</a:t>
            </a:r>
          </a:p>
        </p:txBody>
      </p:sp>
      <p:sp>
        <p:nvSpPr>
          <p:cNvPr id="21" name="TextBox 20"/>
          <p:cNvSpPr txBox="1"/>
          <p:nvPr/>
        </p:nvSpPr>
        <p:spPr>
          <a:xfrm>
            <a:off x="5166359" y="2020824"/>
            <a:ext cx="3657599" cy="713232"/>
          </a:xfrm>
          <a:prstGeom prst="rect">
            <a:avLst/>
          </a:prstGeom>
          <a:noFill/>
        </p:spPr>
        <p:txBody>
          <a:bodyPr wrap="square" lIns="45720" tIns="27432" rIns="45720" bIns="27432">
            <a:spAutoFit/>
          </a:bodyPr>
          <a:lstStyle/>
          <a:p>
            <a:pPr algn="l"/>
            <a:r>
              <a:rPr sz="1200" b="0" i="0">
                <a:solidFill>
                  <a:srgbClr val="2D3A4A"/>
                </a:solidFill>
              </a:rPr>
              <a:t>注册建造师的执业范围</a:t>
            </a:r>
          </a:p>
        </p:txBody>
      </p:sp>
      <p:sp>
        <p:nvSpPr>
          <p:cNvPr id="22" name="Rectangle 21"/>
          <p:cNvSpPr/>
          <p:nvPr/>
        </p:nvSpPr>
        <p:spPr>
          <a:xfrm>
            <a:off x="0" y="4937760"/>
            <a:ext cx="9144000" cy="20574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46904"/>
            <a:ext cx="8595360" cy="201168"/>
          </a:xfrm>
          <a:prstGeom prst="rect">
            <a:avLst/>
          </a:prstGeom>
          <a:noFill/>
        </p:spPr>
        <p:txBody>
          <a:bodyPr wrap="square" lIns="45720" tIns="27432" rIns="45720" bIns="27432">
            <a:spAutoFit/>
          </a:bodyPr>
          <a:lstStyle/>
          <a:p>
            <a:pPr algn="ctr"/>
            <a:r>
              <a:rPr sz="1100" b="1" i="0">
                <a:solidFill>
                  <a:srgbClr val="925700"/>
                </a:solidFill>
              </a:rPr>
              <a:t>💡 以上考点请重点记忆，历年考试高频出现！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3D1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6400800" cy="384048"/>
          </a:xfrm>
          <a:prstGeom prst="rect">
            <a:avLst/>
          </a:prstGeom>
          <a:noFill/>
        </p:spPr>
        <p:txBody>
          <a:bodyPr wrap="square" lIns="45720" tIns="27432" rIns="45720" bIns="27432">
            <a:spAutoFit/>
          </a:bodyPr>
          <a:lstStyle/>
          <a:p>
            <a:pPr algn="l"/>
            <a:r>
              <a:rPr sz="2000" b="1" i="0">
                <a:solidFill>
                  <a:srgbClr val="FFFFFF"/>
                </a:solidFill>
              </a:rPr>
              <a:t>📝 历年真题精选</a:t>
            </a:r>
          </a:p>
        </p:txBody>
      </p:sp>
      <p:sp>
        <p:nvSpPr>
          <p:cNvPr id="5" name="TextBox 4"/>
          <p:cNvSpPr txBox="1"/>
          <p:nvPr/>
        </p:nvSpPr>
        <p:spPr>
          <a:xfrm>
            <a:off x="365760" y="548640"/>
            <a:ext cx="8229600" cy="292608"/>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28600" y="987552"/>
            <a:ext cx="8686800" cy="45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033272"/>
            <a:ext cx="100584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 y="1033272"/>
            <a:ext cx="987552" cy="274320"/>
          </a:xfrm>
          <a:prstGeom prst="rect">
            <a:avLst/>
          </a:prstGeom>
          <a:noFill/>
        </p:spPr>
        <p:txBody>
          <a:bodyPr wrap="square" lIns="45720" tIns="27432" rIns="45720" bIns="27432">
            <a:spAutoFit/>
          </a:bodyPr>
          <a:lstStyle/>
          <a:p>
            <a:pPr algn="ctr"/>
            <a:r>
              <a:rPr sz="1000" b="1" i="0">
                <a:solidFill>
                  <a:srgbClr val="FFFFFF"/>
                </a:solidFill>
              </a:rPr>
              <a:t>2025 单选</a:t>
            </a:r>
          </a:p>
        </p:txBody>
      </p:sp>
      <p:sp>
        <p:nvSpPr>
          <p:cNvPr id="9" name="TextBox 8"/>
          <p:cNvSpPr txBox="1"/>
          <p:nvPr/>
        </p:nvSpPr>
        <p:spPr>
          <a:xfrm>
            <a:off x="228600" y="1033272"/>
            <a:ext cx="8686800" cy="502920"/>
          </a:xfrm>
          <a:prstGeom prst="rect">
            <a:avLst/>
          </a:prstGeom>
          <a:noFill/>
        </p:spPr>
        <p:txBody>
          <a:bodyPr wrap="square" lIns="1051560" tIns="27432" rIns="1051560" bIns="27432">
            <a:spAutoFit/>
          </a:bodyPr>
          <a:lstStyle/>
          <a:p>
            <a:pPr algn="l"/>
            <a:r>
              <a:rPr sz="1200" b="1" i="0">
                <a:solidFill>
                  <a:srgbClr val="2D3A4A"/>
                </a:solidFill>
              </a:rPr>
              <a:t>【1】根据《建筑法》，建设单位申请施工许可证，下列申请条件中，说法正确的是（  ）。</a:t>
            </a:r>
          </a:p>
        </p:txBody>
      </p:sp>
      <p:sp>
        <p:nvSpPr>
          <p:cNvPr id="10" name="TextBox 9"/>
          <p:cNvSpPr txBox="1"/>
          <p:nvPr/>
        </p:nvSpPr>
        <p:spPr>
          <a:xfrm>
            <a:off x="320040" y="1536192"/>
            <a:ext cx="8412480" cy="548640"/>
          </a:xfrm>
          <a:prstGeom prst="rect">
            <a:avLst/>
          </a:prstGeom>
          <a:noFill/>
        </p:spPr>
        <p:txBody>
          <a:bodyPr wrap="square" lIns="45720" tIns="27432" rIns="45720" bIns="27432">
            <a:spAutoFit/>
          </a:bodyPr>
          <a:lstStyle/>
          <a:p>
            <a:pPr algn="l"/>
            <a:r>
              <a:rPr sz="1100" b="0" i="0">
                <a:solidFill>
                  <a:srgbClr val="2D3A4A"/>
                </a:solidFill>
              </a:rPr>
              <a:t>A. 申请施工许可证由施工单位负责办理    B. 施工图设计文件无需审查可直接申请
    C. 建设工期超过1年的，到位资金不得少于合同价款的30%    D. 施工场地必须完全具备施工条件方可申请</a:t>
            </a:r>
          </a:p>
        </p:txBody>
      </p:sp>
      <p:sp>
        <p:nvSpPr>
          <p:cNvPr id="11" name="Rectangle 10"/>
          <p:cNvSpPr/>
          <p:nvPr/>
        </p:nvSpPr>
        <p:spPr>
          <a:xfrm>
            <a:off x="228600" y="21031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21031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2121408"/>
            <a:ext cx="8412480" cy="475488"/>
          </a:xfrm>
          <a:prstGeom prst="rect">
            <a:avLst/>
          </a:prstGeom>
          <a:noFill/>
        </p:spPr>
        <p:txBody>
          <a:bodyPr wrap="square" lIns="45720" tIns="27432" rIns="45720" bIns="27432">
            <a:spAutoFit/>
          </a:bodyPr>
          <a:lstStyle/>
          <a:p>
            <a:pPr algn="l"/>
            <a:r>
              <a:rPr sz="1100" b="0" i="0">
                <a:solidFill>
                  <a:srgbClr val="145A2E"/>
                </a:solidFill>
              </a:rPr>
              <a:t>✔ 答案：C　　A错误，申请人是建设单位非施工单位。B错误，施工图须经审查合格。C正确，工期超过1年到位资金不少于30%。D错误，只需'基本具备'条件。</a:t>
            </a:r>
          </a:p>
        </p:txBody>
      </p:sp>
      <p:sp>
        <p:nvSpPr>
          <p:cNvPr id="14" name="Rectangle 13"/>
          <p:cNvSpPr/>
          <p:nvPr/>
        </p:nvSpPr>
        <p:spPr>
          <a:xfrm>
            <a:off x="228600" y="2816352"/>
            <a:ext cx="8686800" cy="457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 y="2862072"/>
            <a:ext cx="1005840" cy="2743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 y="2862072"/>
            <a:ext cx="987552" cy="274320"/>
          </a:xfrm>
          <a:prstGeom prst="rect">
            <a:avLst/>
          </a:prstGeom>
          <a:noFill/>
        </p:spPr>
        <p:txBody>
          <a:bodyPr wrap="square" lIns="45720" tIns="27432" rIns="45720" bIns="27432">
            <a:spAutoFit/>
          </a:bodyPr>
          <a:lstStyle/>
          <a:p>
            <a:pPr algn="ctr"/>
            <a:r>
              <a:rPr sz="1000" b="1" i="0">
                <a:solidFill>
                  <a:srgbClr val="FFFFFF"/>
                </a:solidFill>
              </a:rPr>
              <a:t>2025 多选</a:t>
            </a:r>
          </a:p>
        </p:txBody>
      </p:sp>
      <p:sp>
        <p:nvSpPr>
          <p:cNvPr id="17" name="TextBox 16"/>
          <p:cNvSpPr txBox="1"/>
          <p:nvPr/>
        </p:nvSpPr>
        <p:spPr>
          <a:xfrm>
            <a:off x="228600" y="2862072"/>
            <a:ext cx="8686800" cy="502920"/>
          </a:xfrm>
          <a:prstGeom prst="rect">
            <a:avLst/>
          </a:prstGeom>
          <a:noFill/>
        </p:spPr>
        <p:txBody>
          <a:bodyPr wrap="square" lIns="1051560" tIns="27432" rIns="1051560" bIns="27432">
            <a:spAutoFit/>
          </a:bodyPr>
          <a:lstStyle/>
          <a:p>
            <a:pPr algn="l"/>
            <a:r>
              <a:rPr sz="1200" b="1" i="0">
                <a:solidFill>
                  <a:srgbClr val="2D3A4A"/>
                </a:solidFill>
              </a:rPr>
              <a:t>【2】根据《建筑法》，施工许可证申请的必备条件包括（  ）。</a:t>
            </a:r>
          </a:p>
        </p:txBody>
      </p:sp>
      <p:sp>
        <p:nvSpPr>
          <p:cNvPr id="18" name="TextBox 17"/>
          <p:cNvSpPr txBox="1"/>
          <p:nvPr/>
        </p:nvSpPr>
        <p:spPr>
          <a:xfrm>
            <a:off x="320040" y="3364992"/>
            <a:ext cx="8412480" cy="548640"/>
          </a:xfrm>
          <a:prstGeom prst="rect">
            <a:avLst/>
          </a:prstGeom>
          <a:noFill/>
        </p:spPr>
        <p:txBody>
          <a:bodyPr wrap="square" lIns="45720" tIns="27432" rIns="45720" bIns="27432">
            <a:spAutoFit/>
          </a:bodyPr>
          <a:lstStyle/>
          <a:p>
            <a:pPr algn="l"/>
            <a:r>
              <a:rPr sz="1100" b="0" i="0">
                <a:solidFill>
                  <a:srgbClr val="2D3A4A"/>
                </a:solidFill>
              </a:rPr>
              <a:t>A. 已办理工程用地批准手续    B. 已取得建设工程规划许可证（依法需办的）
    C. 施工图设计文件已按规定审查合格    D. 建设资金已全部到位    E. 已委托监理（依法需委托的）</a:t>
            </a:r>
          </a:p>
        </p:txBody>
      </p:sp>
      <p:sp>
        <p:nvSpPr>
          <p:cNvPr id="19" name="Rectangle 18"/>
          <p:cNvSpPr/>
          <p:nvPr/>
        </p:nvSpPr>
        <p:spPr>
          <a:xfrm>
            <a:off x="228600" y="39319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39319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3950208"/>
            <a:ext cx="8412480" cy="475488"/>
          </a:xfrm>
          <a:prstGeom prst="rect">
            <a:avLst/>
          </a:prstGeom>
          <a:noFill/>
        </p:spPr>
        <p:txBody>
          <a:bodyPr wrap="square" lIns="45720" tIns="27432" rIns="45720" bIns="27432">
            <a:spAutoFit/>
          </a:bodyPr>
          <a:lstStyle/>
          <a:p>
            <a:pPr algn="l"/>
            <a:r>
              <a:rPr sz="1100" b="0" i="0">
                <a:solidFill>
                  <a:srgbClr val="145A2E"/>
                </a:solidFill>
              </a:rPr>
              <a:t>✔ 答案：ABCE　　D错误，资金要求为：工期不足1年到位不少于50%，工期超过1年到位不少于30%，并非全部到位。A、B、C、E均为施工许可证9项申请条件中的内容。</a:t>
            </a:r>
          </a:p>
        </p:txBody>
      </p:sp>
      <p:sp>
        <p:nvSpPr>
          <p:cNvPr id="22" name="Rectangle 21"/>
          <p:cNvSpPr/>
          <p:nvPr/>
        </p:nvSpPr>
        <p:spPr>
          <a:xfrm>
            <a:off x="0" y="4937760"/>
            <a:ext cx="9144000" cy="20574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46904"/>
            <a:ext cx="8595360" cy="201168"/>
          </a:xfrm>
          <a:prstGeom prst="rect">
            <a:avLst/>
          </a:prstGeom>
          <a:noFill/>
        </p:spPr>
        <p:txBody>
          <a:bodyPr wrap="square" lIns="45720" tIns="27432" rIns="45720" bIns="27432">
            <a:spAutoFit/>
          </a:bodyPr>
          <a:lstStyle/>
          <a:p>
            <a:pPr algn="ctr"/>
            <a:r>
              <a:rPr sz="1100" b="1" i="0">
                <a:solidFill>
                  <a:srgbClr val="8B4000"/>
                </a:solidFill>
              </a:rPr>
              <a:t>🔥 真题是最好的考点指南，建议反复练习！</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3D1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6400800" cy="384048"/>
          </a:xfrm>
          <a:prstGeom prst="rect">
            <a:avLst/>
          </a:prstGeom>
          <a:noFill/>
        </p:spPr>
        <p:txBody>
          <a:bodyPr wrap="square" lIns="45720" tIns="27432" rIns="45720" bIns="27432">
            <a:spAutoFit/>
          </a:bodyPr>
          <a:lstStyle/>
          <a:p>
            <a:pPr algn="l"/>
            <a:r>
              <a:rPr sz="2000" b="1" i="0">
                <a:solidFill>
                  <a:srgbClr val="FFFFFF"/>
                </a:solidFill>
              </a:rPr>
              <a:t>📝 历年真题精选</a:t>
            </a:r>
          </a:p>
        </p:txBody>
      </p:sp>
      <p:sp>
        <p:nvSpPr>
          <p:cNvPr id="5" name="TextBox 4"/>
          <p:cNvSpPr txBox="1"/>
          <p:nvPr/>
        </p:nvSpPr>
        <p:spPr>
          <a:xfrm>
            <a:off x="365760" y="548640"/>
            <a:ext cx="8229600" cy="292608"/>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28600" y="987552"/>
            <a:ext cx="8686800" cy="45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033272"/>
            <a:ext cx="100584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 y="1033272"/>
            <a:ext cx="987552" cy="274320"/>
          </a:xfrm>
          <a:prstGeom prst="rect">
            <a:avLst/>
          </a:prstGeom>
          <a:noFill/>
        </p:spPr>
        <p:txBody>
          <a:bodyPr wrap="square" lIns="45720" tIns="27432" rIns="45720" bIns="27432">
            <a:spAutoFit/>
          </a:bodyPr>
          <a:lstStyle/>
          <a:p>
            <a:pPr algn="ctr"/>
            <a:r>
              <a:rPr sz="1000" b="1" i="0">
                <a:solidFill>
                  <a:srgbClr val="FFFFFF"/>
                </a:solidFill>
              </a:rPr>
              <a:t>2024 单选</a:t>
            </a:r>
          </a:p>
        </p:txBody>
      </p:sp>
      <p:sp>
        <p:nvSpPr>
          <p:cNvPr id="9" name="TextBox 8"/>
          <p:cNvSpPr txBox="1"/>
          <p:nvPr/>
        </p:nvSpPr>
        <p:spPr>
          <a:xfrm>
            <a:off x="228600" y="1033272"/>
            <a:ext cx="8686800" cy="502920"/>
          </a:xfrm>
          <a:prstGeom prst="rect">
            <a:avLst/>
          </a:prstGeom>
          <a:noFill/>
        </p:spPr>
        <p:txBody>
          <a:bodyPr wrap="square" lIns="1051560" tIns="27432" rIns="1051560" bIns="27432">
            <a:spAutoFit/>
          </a:bodyPr>
          <a:lstStyle/>
          <a:p>
            <a:pPr algn="l"/>
            <a:r>
              <a:rPr sz="1200" b="1" i="0">
                <a:solidFill>
                  <a:srgbClr val="2D3A4A"/>
                </a:solidFill>
              </a:rPr>
              <a:t>【3】某建筑工程建设工期18个月，建设单位申请施工许可证时，到位资金原则上不得少于工程合同价款的（  ）。</a:t>
            </a:r>
          </a:p>
        </p:txBody>
      </p:sp>
      <p:sp>
        <p:nvSpPr>
          <p:cNvPr id="10" name="TextBox 9"/>
          <p:cNvSpPr txBox="1"/>
          <p:nvPr/>
        </p:nvSpPr>
        <p:spPr>
          <a:xfrm>
            <a:off x="320040" y="1536192"/>
            <a:ext cx="8412480" cy="548640"/>
          </a:xfrm>
          <a:prstGeom prst="rect">
            <a:avLst/>
          </a:prstGeom>
          <a:noFill/>
        </p:spPr>
        <p:txBody>
          <a:bodyPr wrap="square" lIns="45720" tIns="27432" rIns="45720" bIns="27432">
            <a:spAutoFit/>
          </a:bodyPr>
          <a:lstStyle/>
          <a:p>
            <a:pPr algn="l"/>
            <a:r>
              <a:rPr sz="1100" b="0" i="0">
                <a:solidFill>
                  <a:srgbClr val="2D3A4A"/>
                </a:solidFill>
              </a:rPr>
              <a:t>A. 20%    B. 30%
    C. 50%    D. 100%</a:t>
            </a:r>
          </a:p>
        </p:txBody>
      </p:sp>
      <p:sp>
        <p:nvSpPr>
          <p:cNvPr id="11" name="Rectangle 10"/>
          <p:cNvSpPr/>
          <p:nvPr/>
        </p:nvSpPr>
        <p:spPr>
          <a:xfrm>
            <a:off x="228600" y="21031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21031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2121408"/>
            <a:ext cx="8412480" cy="475488"/>
          </a:xfrm>
          <a:prstGeom prst="rect">
            <a:avLst/>
          </a:prstGeom>
          <a:noFill/>
        </p:spPr>
        <p:txBody>
          <a:bodyPr wrap="square" lIns="45720" tIns="27432" rIns="45720" bIns="27432">
            <a:spAutoFit/>
          </a:bodyPr>
          <a:lstStyle/>
          <a:p>
            <a:pPr algn="l"/>
            <a:r>
              <a:rPr sz="1100" b="0" i="0">
                <a:solidFill>
                  <a:srgbClr val="145A2E"/>
                </a:solidFill>
              </a:rPr>
              <a:t>✔ 答案：B　　建设工期超过1年（18个月&gt;12个月），到位资金不少于合同价款的30%；不足1年的才要求50%。</a:t>
            </a:r>
          </a:p>
        </p:txBody>
      </p:sp>
      <p:sp>
        <p:nvSpPr>
          <p:cNvPr id="14" name="Rectangle 13"/>
          <p:cNvSpPr/>
          <p:nvPr/>
        </p:nvSpPr>
        <p:spPr>
          <a:xfrm>
            <a:off x="228600" y="2816352"/>
            <a:ext cx="8686800" cy="45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 y="2862072"/>
            <a:ext cx="100584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 y="2862072"/>
            <a:ext cx="987552" cy="274320"/>
          </a:xfrm>
          <a:prstGeom prst="rect">
            <a:avLst/>
          </a:prstGeom>
          <a:noFill/>
        </p:spPr>
        <p:txBody>
          <a:bodyPr wrap="square" lIns="45720" tIns="27432" rIns="45720" bIns="27432">
            <a:spAutoFit/>
          </a:bodyPr>
          <a:lstStyle/>
          <a:p>
            <a:pPr algn="ctr"/>
            <a:r>
              <a:rPr sz="1000" b="1" i="0">
                <a:solidFill>
                  <a:srgbClr val="FFFFFF"/>
                </a:solidFill>
              </a:rPr>
              <a:t>2024 单选</a:t>
            </a:r>
          </a:p>
        </p:txBody>
      </p:sp>
      <p:sp>
        <p:nvSpPr>
          <p:cNvPr id="17" name="TextBox 16"/>
          <p:cNvSpPr txBox="1"/>
          <p:nvPr/>
        </p:nvSpPr>
        <p:spPr>
          <a:xfrm>
            <a:off x="228600" y="2862072"/>
            <a:ext cx="8686800" cy="502920"/>
          </a:xfrm>
          <a:prstGeom prst="rect">
            <a:avLst/>
          </a:prstGeom>
          <a:noFill/>
        </p:spPr>
        <p:txBody>
          <a:bodyPr wrap="square" lIns="1051560" tIns="27432" rIns="1051560" bIns="27432">
            <a:spAutoFit/>
          </a:bodyPr>
          <a:lstStyle/>
          <a:p>
            <a:pPr algn="l"/>
            <a:r>
              <a:rPr sz="1200" b="1" i="0">
                <a:solidFill>
                  <a:srgbClr val="2D3A4A"/>
                </a:solidFill>
              </a:rPr>
              <a:t>【4】建设单位取得施工许可证后，因不可抗力无法按期开工，共申请了2次延期仍未能开工，该施工许可证的处理方式是（  ）。</a:t>
            </a:r>
          </a:p>
        </p:txBody>
      </p:sp>
      <p:sp>
        <p:nvSpPr>
          <p:cNvPr id="18" name="TextBox 17"/>
          <p:cNvSpPr txBox="1"/>
          <p:nvPr/>
        </p:nvSpPr>
        <p:spPr>
          <a:xfrm>
            <a:off x="320040" y="3364992"/>
            <a:ext cx="8412480" cy="548640"/>
          </a:xfrm>
          <a:prstGeom prst="rect">
            <a:avLst/>
          </a:prstGeom>
          <a:noFill/>
        </p:spPr>
        <p:txBody>
          <a:bodyPr wrap="square" lIns="45720" tIns="27432" rIns="45720" bIns="27432">
            <a:spAutoFit/>
          </a:bodyPr>
          <a:lstStyle/>
          <a:p>
            <a:pPr algn="l"/>
            <a:r>
              <a:rPr sz="1100" b="0" i="0">
                <a:solidFill>
                  <a:srgbClr val="2D3A4A"/>
                </a:solidFill>
              </a:rPr>
              <a:t>A. 继续有效，等待开工    B. 可申请第3次延期
    C. 自动失效，重新申请    D. 由发证机关决定是否继续有效</a:t>
            </a:r>
          </a:p>
        </p:txBody>
      </p:sp>
      <p:sp>
        <p:nvSpPr>
          <p:cNvPr id="19" name="Rectangle 18"/>
          <p:cNvSpPr/>
          <p:nvPr/>
        </p:nvSpPr>
        <p:spPr>
          <a:xfrm>
            <a:off x="228600" y="39319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39319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3950208"/>
            <a:ext cx="8412480" cy="475488"/>
          </a:xfrm>
          <a:prstGeom prst="rect">
            <a:avLst/>
          </a:prstGeom>
          <a:noFill/>
        </p:spPr>
        <p:txBody>
          <a:bodyPr wrap="square" lIns="45720" tIns="27432" rIns="45720" bIns="27432">
            <a:spAutoFit/>
          </a:bodyPr>
          <a:lstStyle/>
          <a:p>
            <a:pPr algn="l"/>
            <a:r>
              <a:rPr sz="1100" b="0" i="0">
                <a:solidFill>
                  <a:srgbClr val="145A2E"/>
                </a:solidFill>
              </a:rPr>
              <a:t>✔ 答案：C　　延期以2次为限，每次不超过3个月。2次延期期满仍未开工的，施工许可证自动失效，需重新申请。</a:t>
            </a:r>
          </a:p>
        </p:txBody>
      </p:sp>
      <p:sp>
        <p:nvSpPr>
          <p:cNvPr id="22" name="Rectangle 21"/>
          <p:cNvSpPr/>
          <p:nvPr/>
        </p:nvSpPr>
        <p:spPr>
          <a:xfrm>
            <a:off x="0" y="4937760"/>
            <a:ext cx="9144000" cy="20574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46904"/>
            <a:ext cx="8595360" cy="201168"/>
          </a:xfrm>
          <a:prstGeom prst="rect">
            <a:avLst/>
          </a:prstGeom>
          <a:noFill/>
        </p:spPr>
        <p:txBody>
          <a:bodyPr wrap="square" lIns="45720" tIns="27432" rIns="45720" bIns="27432">
            <a:spAutoFit/>
          </a:bodyPr>
          <a:lstStyle/>
          <a:p>
            <a:pPr algn="ctr"/>
            <a:r>
              <a:rPr sz="1100" b="1" i="0">
                <a:solidFill>
                  <a:srgbClr val="8B4000"/>
                </a:solidFill>
              </a:rPr>
              <a:t>🔥 真题是最好的考点指南，建议反复练习！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3D1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6400800" cy="384048"/>
          </a:xfrm>
          <a:prstGeom prst="rect">
            <a:avLst/>
          </a:prstGeom>
          <a:noFill/>
        </p:spPr>
        <p:txBody>
          <a:bodyPr wrap="square" lIns="45720" tIns="27432" rIns="45720" bIns="27432">
            <a:spAutoFit/>
          </a:bodyPr>
          <a:lstStyle/>
          <a:p>
            <a:pPr algn="l"/>
            <a:r>
              <a:rPr sz="2000" b="1" i="0">
                <a:solidFill>
                  <a:srgbClr val="FFFFFF"/>
                </a:solidFill>
              </a:rPr>
              <a:t>📝 历年真题精选</a:t>
            </a:r>
          </a:p>
        </p:txBody>
      </p:sp>
      <p:sp>
        <p:nvSpPr>
          <p:cNvPr id="5" name="TextBox 4"/>
          <p:cNvSpPr txBox="1"/>
          <p:nvPr/>
        </p:nvSpPr>
        <p:spPr>
          <a:xfrm>
            <a:off x="365760" y="548640"/>
            <a:ext cx="8229600" cy="292608"/>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28600" y="987552"/>
            <a:ext cx="8686800" cy="457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033272"/>
            <a:ext cx="1005840" cy="2743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 y="1033272"/>
            <a:ext cx="987552" cy="274320"/>
          </a:xfrm>
          <a:prstGeom prst="rect">
            <a:avLst/>
          </a:prstGeom>
          <a:noFill/>
        </p:spPr>
        <p:txBody>
          <a:bodyPr wrap="square" lIns="45720" tIns="27432" rIns="45720" bIns="27432">
            <a:spAutoFit/>
          </a:bodyPr>
          <a:lstStyle/>
          <a:p>
            <a:pPr algn="ctr"/>
            <a:r>
              <a:rPr sz="1000" b="1" i="0">
                <a:solidFill>
                  <a:srgbClr val="FFFFFF"/>
                </a:solidFill>
              </a:rPr>
              <a:t>2024 多选</a:t>
            </a:r>
          </a:p>
        </p:txBody>
      </p:sp>
      <p:sp>
        <p:nvSpPr>
          <p:cNvPr id="9" name="TextBox 8"/>
          <p:cNvSpPr txBox="1"/>
          <p:nvPr/>
        </p:nvSpPr>
        <p:spPr>
          <a:xfrm>
            <a:off x="228600" y="1033272"/>
            <a:ext cx="8686800" cy="502920"/>
          </a:xfrm>
          <a:prstGeom prst="rect">
            <a:avLst/>
          </a:prstGeom>
          <a:noFill/>
        </p:spPr>
        <p:txBody>
          <a:bodyPr wrap="square" lIns="1051560" tIns="27432" rIns="1051560" bIns="27432">
            <a:spAutoFit/>
          </a:bodyPr>
          <a:lstStyle/>
          <a:p>
            <a:pPr algn="l"/>
            <a:r>
              <a:rPr sz="1200" b="1" i="0">
                <a:solidFill>
                  <a:srgbClr val="2D3A4A"/>
                </a:solidFill>
              </a:rPr>
              <a:t>【5】根据《建筑法》，下列关于注册建造师制度的说法，正确的有（  ）。</a:t>
            </a:r>
          </a:p>
        </p:txBody>
      </p:sp>
      <p:sp>
        <p:nvSpPr>
          <p:cNvPr id="10" name="TextBox 9"/>
          <p:cNvSpPr txBox="1"/>
          <p:nvPr/>
        </p:nvSpPr>
        <p:spPr>
          <a:xfrm>
            <a:off x="320040" y="1536192"/>
            <a:ext cx="8412480" cy="548640"/>
          </a:xfrm>
          <a:prstGeom prst="rect">
            <a:avLst/>
          </a:prstGeom>
          <a:noFill/>
        </p:spPr>
        <p:txBody>
          <a:bodyPr wrap="square" lIns="45720" tIns="27432" rIns="45720" bIns="27432">
            <a:spAutoFit/>
          </a:bodyPr>
          <a:lstStyle/>
          <a:p>
            <a:pPr algn="l"/>
            <a:r>
              <a:rPr sz="1100" b="0" i="0">
                <a:solidFill>
                  <a:srgbClr val="2D3A4A"/>
                </a:solidFill>
              </a:rPr>
              <a:t>A. 一级建造师执业资格全国统一考试    B. 注册建造师可以同时在两家企业注册
    C. 注册有效期为3年    D. 65周岁以上人员不予注册    E. 担任大型工程项目经理须持一级建造师证书</a:t>
            </a:r>
          </a:p>
        </p:txBody>
      </p:sp>
      <p:sp>
        <p:nvSpPr>
          <p:cNvPr id="11" name="Rectangle 10"/>
          <p:cNvSpPr/>
          <p:nvPr/>
        </p:nvSpPr>
        <p:spPr>
          <a:xfrm>
            <a:off x="228600" y="21031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21031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2121408"/>
            <a:ext cx="8412480" cy="475488"/>
          </a:xfrm>
          <a:prstGeom prst="rect">
            <a:avLst/>
          </a:prstGeom>
          <a:noFill/>
        </p:spPr>
        <p:txBody>
          <a:bodyPr wrap="square" lIns="45720" tIns="27432" rIns="45720" bIns="27432">
            <a:spAutoFit/>
          </a:bodyPr>
          <a:lstStyle/>
          <a:p>
            <a:pPr algn="l"/>
            <a:r>
              <a:rPr sz="1100" b="0" i="0">
                <a:solidFill>
                  <a:srgbClr val="145A2E"/>
                </a:solidFill>
              </a:rPr>
              <a:t>✔ 答案：ACDE　　B错误，注册建造师只能在一家企业注册，不得同时在多个单位注册。A、C、D、E均正确。</a:t>
            </a:r>
          </a:p>
        </p:txBody>
      </p:sp>
      <p:sp>
        <p:nvSpPr>
          <p:cNvPr id="14" name="Rectangle 13"/>
          <p:cNvSpPr/>
          <p:nvPr/>
        </p:nvSpPr>
        <p:spPr>
          <a:xfrm>
            <a:off x="228600" y="2816352"/>
            <a:ext cx="8686800" cy="45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 y="2862072"/>
            <a:ext cx="100584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 y="2862072"/>
            <a:ext cx="987552" cy="274320"/>
          </a:xfrm>
          <a:prstGeom prst="rect">
            <a:avLst/>
          </a:prstGeom>
          <a:noFill/>
        </p:spPr>
        <p:txBody>
          <a:bodyPr wrap="square" lIns="45720" tIns="27432" rIns="45720" bIns="27432">
            <a:spAutoFit/>
          </a:bodyPr>
          <a:lstStyle/>
          <a:p>
            <a:pPr algn="ctr"/>
            <a:r>
              <a:rPr sz="1000" b="1" i="0">
                <a:solidFill>
                  <a:srgbClr val="FFFFFF"/>
                </a:solidFill>
              </a:rPr>
              <a:t>2023 单选</a:t>
            </a:r>
          </a:p>
        </p:txBody>
      </p:sp>
      <p:sp>
        <p:nvSpPr>
          <p:cNvPr id="17" name="TextBox 16"/>
          <p:cNvSpPr txBox="1"/>
          <p:nvPr/>
        </p:nvSpPr>
        <p:spPr>
          <a:xfrm>
            <a:off x="228600" y="2862072"/>
            <a:ext cx="8686800" cy="502920"/>
          </a:xfrm>
          <a:prstGeom prst="rect">
            <a:avLst/>
          </a:prstGeom>
          <a:noFill/>
        </p:spPr>
        <p:txBody>
          <a:bodyPr wrap="square" lIns="1051560" tIns="27432" rIns="1051560" bIns="27432">
            <a:spAutoFit/>
          </a:bodyPr>
          <a:lstStyle/>
          <a:p>
            <a:pPr algn="l"/>
            <a:r>
              <a:rPr sz="1200" b="1" i="0">
                <a:solidFill>
                  <a:srgbClr val="2D3A4A"/>
                </a:solidFill>
              </a:rPr>
              <a:t>【6】建设单位申请施工许可证时，建设资金已落实的规定是：建设工期不足1年的，到位资金原则上不得少于工程合同价款的（  ）。</a:t>
            </a:r>
          </a:p>
        </p:txBody>
      </p:sp>
      <p:sp>
        <p:nvSpPr>
          <p:cNvPr id="18" name="TextBox 17"/>
          <p:cNvSpPr txBox="1"/>
          <p:nvPr/>
        </p:nvSpPr>
        <p:spPr>
          <a:xfrm>
            <a:off x="320040" y="3364992"/>
            <a:ext cx="8412480" cy="548640"/>
          </a:xfrm>
          <a:prstGeom prst="rect">
            <a:avLst/>
          </a:prstGeom>
          <a:noFill/>
        </p:spPr>
        <p:txBody>
          <a:bodyPr wrap="square" lIns="45720" tIns="27432" rIns="45720" bIns="27432">
            <a:spAutoFit/>
          </a:bodyPr>
          <a:lstStyle/>
          <a:p>
            <a:pPr algn="l"/>
            <a:r>
              <a:rPr sz="1100" b="0" i="0">
                <a:solidFill>
                  <a:srgbClr val="2D3A4A"/>
                </a:solidFill>
              </a:rPr>
              <a:t>A. 20%    B. 30%
    C. 50%    D. 60%</a:t>
            </a:r>
          </a:p>
        </p:txBody>
      </p:sp>
      <p:sp>
        <p:nvSpPr>
          <p:cNvPr id="19" name="Rectangle 18"/>
          <p:cNvSpPr/>
          <p:nvPr/>
        </p:nvSpPr>
        <p:spPr>
          <a:xfrm>
            <a:off x="228600" y="39319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39319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3950208"/>
            <a:ext cx="8412480" cy="475488"/>
          </a:xfrm>
          <a:prstGeom prst="rect">
            <a:avLst/>
          </a:prstGeom>
          <a:noFill/>
        </p:spPr>
        <p:txBody>
          <a:bodyPr wrap="square" lIns="45720" tIns="27432" rIns="45720" bIns="27432">
            <a:spAutoFit/>
          </a:bodyPr>
          <a:lstStyle/>
          <a:p>
            <a:pPr algn="l"/>
            <a:r>
              <a:rPr sz="1100" b="0" i="0">
                <a:solidFill>
                  <a:srgbClr val="145A2E"/>
                </a:solidFill>
              </a:rPr>
              <a:t>✔ 答案：C　　建设工期不足1年，到位资金不少于合同价款50%；工期超过1年，到位资金不少于30%。两个数字是高频考点，必须区分：短工期要求高（50%），长工期要求低（30%）。</a:t>
            </a:r>
          </a:p>
        </p:txBody>
      </p:sp>
      <p:sp>
        <p:nvSpPr>
          <p:cNvPr id="22" name="Rectangle 21"/>
          <p:cNvSpPr/>
          <p:nvPr/>
        </p:nvSpPr>
        <p:spPr>
          <a:xfrm>
            <a:off x="0" y="4937760"/>
            <a:ext cx="9144000" cy="20574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46904"/>
            <a:ext cx="8595360" cy="201168"/>
          </a:xfrm>
          <a:prstGeom prst="rect">
            <a:avLst/>
          </a:prstGeom>
          <a:noFill/>
        </p:spPr>
        <p:txBody>
          <a:bodyPr wrap="square" lIns="45720" tIns="27432" rIns="45720" bIns="27432">
            <a:spAutoFit/>
          </a:bodyPr>
          <a:lstStyle/>
          <a:p>
            <a:pPr algn="ctr"/>
            <a:r>
              <a:rPr sz="1100" b="1" i="0">
                <a:solidFill>
                  <a:srgbClr val="8B4000"/>
                </a:solidFill>
              </a:rPr>
              <a:t>🔥 真题是最好的考点指南，建议反复练习！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3D1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6400800" cy="384048"/>
          </a:xfrm>
          <a:prstGeom prst="rect">
            <a:avLst/>
          </a:prstGeom>
          <a:noFill/>
        </p:spPr>
        <p:txBody>
          <a:bodyPr wrap="square" lIns="45720" tIns="27432" rIns="45720" bIns="27432">
            <a:spAutoFit/>
          </a:bodyPr>
          <a:lstStyle/>
          <a:p>
            <a:pPr algn="l"/>
            <a:r>
              <a:rPr sz="2000" b="1" i="0">
                <a:solidFill>
                  <a:srgbClr val="FFFFFF"/>
                </a:solidFill>
              </a:rPr>
              <a:t>📝 历年真题精选</a:t>
            </a:r>
          </a:p>
        </p:txBody>
      </p:sp>
      <p:sp>
        <p:nvSpPr>
          <p:cNvPr id="5" name="TextBox 4"/>
          <p:cNvSpPr txBox="1"/>
          <p:nvPr/>
        </p:nvSpPr>
        <p:spPr>
          <a:xfrm>
            <a:off x="365760" y="548640"/>
            <a:ext cx="8229600" cy="292608"/>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28600" y="987552"/>
            <a:ext cx="8686800" cy="457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033272"/>
            <a:ext cx="1005840" cy="2743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 y="1033272"/>
            <a:ext cx="987552" cy="274320"/>
          </a:xfrm>
          <a:prstGeom prst="rect">
            <a:avLst/>
          </a:prstGeom>
          <a:noFill/>
        </p:spPr>
        <p:txBody>
          <a:bodyPr wrap="square" lIns="45720" tIns="27432" rIns="45720" bIns="27432">
            <a:spAutoFit/>
          </a:bodyPr>
          <a:lstStyle/>
          <a:p>
            <a:pPr algn="ctr"/>
            <a:r>
              <a:rPr sz="1000" b="1" i="0">
                <a:solidFill>
                  <a:srgbClr val="FFFFFF"/>
                </a:solidFill>
              </a:rPr>
              <a:t>2023 多选</a:t>
            </a:r>
          </a:p>
        </p:txBody>
      </p:sp>
      <p:sp>
        <p:nvSpPr>
          <p:cNvPr id="9" name="TextBox 8"/>
          <p:cNvSpPr txBox="1"/>
          <p:nvPr/>
        </p:nvSpPr>
        <p:spPr>
          <a:xfrm>
            <a:off x="228600" y="1033272"/>
            <a:ext cx="8686800" cy="502920"/>
          </a:xfrm>
          <a:prstGeom prst="rect">
            <a:avLst/>
          </a:prstGeom>
          <a:noFill/>
        </p:spPr>
        <p:txBody>
          <a:bodyPr wrap="square" lIns="1051560" tIns="27432" rIns="1051560" bIns="27432">
            <a:spAutoFit/>
          </a:bodyPr>
          <a:lstStyle/>
          <a:p>
            <a:pPr algn="l"/>
            <a:r>
              <a:rPr sz="1200" b="1" i="0">
                <a:solidFill>
                  <a:srgbClr val="2D3A4A"/>
                </a:solidFill>
              </a:rPr>
              <a:t>【7】根据《建筑法》，下列关于施工企业资质管理的说法，正确的有（  ）。</a:t>
            </a:r>
          </a:p>
        </p:txBody>
      </p:sp>
      <p:sp>
        <p:nvSpPr>
          <p:cNvPr id="10" name="TextBox 9"/>
          <p:cNvSpPr txBox="1"/>
          <p:nvPr/>
        </p:nvSpPr>
        <p:spPr>
          <a:xfrm>
            <a:off x="320040" y="1536192"/>
            <a:ext cx="8412480" cy="548640"/>
          </a:xfrm>
          <a:prstGeom prst="rect">
            <a:avLst/>
          </a:prstGeom>
          <a:noFill/>
        </p:spPr>
        <p:txBody>
          <a:bodyPr wrap="square" lIns="45720" tIns="27432" rIns="45720" bIns="27432">
            <a:spAutoFit/>
          </a:bodyPr>
          <a:lstStyle/>
          <a:p>
            <a:pPr algn="l"/>
            <a:r>
              <a:rPr sz="1100" b="0" i="0">
                <a:solidFill>
                  <a:srgbClr val="2D3A4A"/>
                </a:solidFill>
              </a:rPr>
              <a:t>A. 施工企业资质序列包括施工总承包、专业承包、劳务分包三类    B. 劳务分包企业资质分为一、二、三级
    C. 超越资质等级承揽工程属于违法行为    D. 以他人名义承揽工程（挂靠）属于违法行为    E. 施工总承包特级资质由省级建设主管部门审批</a:t>
            </a:r>
          </a:p>
        </p:txBody>
      </p:sp>
      <p:sp>
        <p:nvSpPr>
          <p:cNvPr id="11" name="Rectangle 10"/>
          <p:cNvSpPr/>
          <p:nvPr/>
        </p:nvSpPr>
        <p:spPr>
          <a:xfrm>
            <a:off x="228600" y="21031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21031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2121408"/>
            <a:ext cx="8412480" cy="475488"/>
          </a:xfrm>
          <a:prstGeom prst="rect">
            <a:avLst/>
          </a:prstGeom>
          <a:noFill/>
        </p:spPr>
        <p:txBody>
          <a:bodyPr wrap="square" lIns="45720" tIns="27432" rIns="45720" bIns="27432">
            <a:spAutoFit/>
          </a:bodyPr>
          <a:lstStyle/>
          <a:p>
            <a:pPr algn="l"/>
            <a:r>
              <a:rPr sz="1100" b="0" i="0">
                <a:solidFill>
                  <a:srgbClr val="145A2E"/>
                </a:solidFill>
              </a:rPr>
              <a:t>✔ 答案：ACD　　B错误，劳务分包资质不分等级。E错误，特级资质须由住建部审批。A、C、D正确。</a:t>
            </a:r>
          </a:p>
        </p:txBody>
      </p:sp>
      <p:sp>
        <p:nvSpPr>
          <p:cNvPr id="14" name="Rectangle 13"/>
          <p:cNvSpPr/>
          <p:nvPr/>
        </p:nvSpPr>
        <p:spPr>
          <a:xfrm>
            <a:off x="228600" y="2816352"/>
            <a:ext cx="8686800" cy="45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 y="2862072"/>
            <a:ext cx="100584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 y="2862072"/>
            <a:ext cx="987552" cy="274320"/>
          </a:xfrm>
          <a:prstGeom prst="rect">
            <a:avLst/>
          </a:prstGeom>
          <a:noFill/>
        </p:spPr>
        <p:txBody>
          <a:bodyPr wrap="square" lIns="45720" tIns="27432" rIns="45720" bIns="27432">
            <a:spAutoFit/>
          </a:bodyPr>
          <a:lstStyle/>
          <a:p>
            <a:pPr algn="ctr"/>
            <a:r>
              <a:rPr sz="1000" b="1" i="0">
                <a:solidFill>
                  <a:srgbClr val="FFFFFF"/>
                </a:solidFill>
              </a:rPr>
              <a:t>2022 单选</a:t>
            </a:r>
          </a:p>
        </p:txBody>
      </p:sp>
      <p:sp>
        <p:nvSpPr>
          <p:cNvPr id="17" name="TextBox 16"/>
          <p:cNvSpPr txBox="1"/>
          <p:nvPr/>
        </p:nvSpPr>
        <p:spPr>
          <a:xfrm>
            <a:off x="228600" y="2862072"/>
            <a:ext cx="8686800" cy="502920"/>
          </a:xfrm>
          <a:prstGeom prst="rect">
            <a:avLst/>
          </a:prstGeom>
          <a:noFill/>
        </p:spPr>
        <p:txBody>
          <a:bodyPr wrap="square" lIns="1051560" tIns="27432" rIns="1051560" bIns="27432">
            <a:spAutoFit/>
          </a:bodyPr>
          <a:lstStyle/>
          <a:p>
            <a:pPr algn="l"/>
            <a:r>
              <a:rPr sz="1200" b="1" i="0">
                <a:solidFill>
                  <a:srgbClr val="2D3A4A"/>
                </a:solidFill>
              </a:rPr>
              <a:t>【8】建设单位取得施工许可证后，因故不能按期开工的，应向发证机关申请延期，每次延期不超过（  ）个月。</a:t>
            </a:r>
          </a:p>
        </p:txBody>
      </p:sp>
      <p:sp>
        <p:nvSpPr>
          <p:cNvPr id="18" name="TextBox 17"/>
          <p:cNvSpPr txBox="1"/>
          <p:nvPr/>
        </p:nvSpPr>
        <p:spPr>
          <a:xfrm>
            <a:off x="320040" y="3364992"/>
            <a:ext cx="8412480" cy="548640"/>
          </a:xfrm>
          <a:prstGeom prst="rect">
            <a:avLst/>
          </a:prstGeom>
          <a:noFill/>
        </p:spPr>
        <p:txBody>
          <a:bodyPr wrap="square" lIns="45720" tIns="27432" rIns="45720" bIns="27432">
            <a:spAutoFit/>
          </a:bodyPr>
          <a:lstStyle/>
          <a:p>
            <a:pPr algn="l"/>
            <a:r>
              <a:rPr sz="1100" b="0" i="0">
                <a:solidFill>
                  <a:srgbClr val="2D3A4A"/>
                </a:solidFill>
              </a:rPr>
              <a:t>A. 1    B. 2
    C. 3    D. 6</a:t>
            </a:r>
          </a:p>
        </p:txBody>
      </p:sp>
      <p:sp>
        <p:nvSpPr>
          <p:cNvPr id="19" name="Rectangle 18"/>
          <p:cNvSpPr/>
          <p:nvPr/>
        </p:nvSpPr>
        <p:spPr>
          <a:xfrm>
            <a:off x="228600" y="39319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39319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3950208"/>
            <a:ext cx="8412480" cy="475488"/>
          </a:xfrm>
          <a:prstGeom prst="rect">
            <a:avLst/>
          </a:prstGeom>
          <a:noFill/>
        </p:spPr>
        <p:txBody>
          <a:bodyPr wrap="square" lIns="45720" tIns="27432" rIns="45720" bIns="27432">
            <a:spAutoFit/>
          </a:bodyPr>
          <a:lstStyle/>
          <a:p>
            <a:pPr algn="l"/>
            <a:r>
              <a:rPr sz="1100" b="0" i="0">
                <a:solidFill>
                  <a:srgbClr val="145A2E"/>
                </a:solidFill>
              </a:rPr>
              <a:t>✔ 答案：C　　延期最多2次，每次不超过3个月，合计最多延期6个月。注意：延期次数上限是2次，每次时间上限是3个月。</a:t>
            </a:r>
          </a:p>
        </p:txBody>
      </p:sp>
      <p:sp>
        <p:nvSpPr>
          <p:cNvPr id="22" name="Rectangle 21"/>
          <p:cNvSpPr/>
          <p:nvPr/>
        </p:nvSpPr>
        <p:spPr>
          <a:xfrm>
            <a:off x="0" y="4937760"/>
            <a:ext cx="9144000" cy="20574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46904"/>
            <a:ext cx="8595360" cy="201168"/>
          </a:xfrm>
          <a:prstGeom prst="rect">
            <a:avLst/>
          </a:prstGeom>
          <a:noFill/>
        </p:spPr>
        <p:txBody>
          <a:bodyPr wrap="square" lIns="45720" tIns="27432" rIns="45720" bIns="27432">
            <a:spAutoFit/>
          </a:bodyPr>
          <a:lstStyle/>
          <a:p>
            <a:pPr algn="ctr"/>
            <a:r>
              <a:rPr sz="1100" b="1" i="0">
                <a:solidFill>
                  <a:srgbClr val="8B4000"/>
                </a:solidFill>
              </a:rPr>
              <a:t>🔥 真题是最好的考点指南，建议反复练习！</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3D1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6400800" cy="384048"/>
          </a:xfrm>
          <a:prstGeom prst="rect">
            <a:avLst/>
          </a:prstGeom>
          <a:noFill/>
        </p:spPr>
        <p:txBody>
          <a:bodyPr wrap="square" lIns="45720" tIns="27432" rIns="45720" bIns="27432">
            <a:spAutoFit/>
          </a:bodyPr>
          <a:lstStyle/>
          <a:p>
            <a:pPr algn="l"/>
            <a:r>
              <a:rPr sz="2000" b="1" i="0">
                <a:solidFill>
                  <a:srgbClr val="FFFFFF"/>
                </a:solidFill>
              </a:rPr>
              <a:t>📝 历年真题精选</a:t>
            </a:r>
          </a:p>
        </p:txBody>
      </p:sp>
      <p:sp>
        <p:nvSpPr>
          <p:cNvPr id="5" name="TextBox 4"/>
          <p:cNvSpPr txBox="1"/>
          <p:nvPr/>
        </p:nvSpPr>
        <p:spPr>
          <a:xfrm>
            <a:off x="365760" y="548640"/>
            <a:ext cx="8229600" cy="292608"/>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28600" y="987552"/>
            <a:ext cx="8686800" cy="45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033272"/>
            <a:ext cx="100584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 y="1033272"/>
            <a:ext cx="987552" cy="274320"/>
          </a:xfrm>
          <a:prstGeom prst="rect">
            <a:avLst/>
          </a:prstGeom>
          <a:noFill/>
        </p:spPr>
        <p:txBody>
          <a:bodyPr wrap="square" lIns="45720" tIns="27432" rIns="45720" bIns="27432">
            <a:spAutoFit/>
          </a:bodyPr>
          <a:lstStyle/>
          <a:p>
            <a:pPr algn="ctr"/>
            <a:r>
              <a:rPr sz="1000" b="1" i="0">
                <a:solidFill>
                  <a:srgbClr val="FFFFFF"/>
                </a:solidFill>
              </a:rPr>
              <a:t>2022 单选</a:t>
            </a:r>
          </a:p>
        </p:txBody>
      </p:sp>
      <p:sp>
        <p:nvSpPr>
          <p:cNvPr id="9" name="TextBox 8"/>
          <p:cNvSpPr txBox="1"/>
          <p:nvPr/>
        </p:nvSpPr>
        <p:spPr>
          <a:xfrm>
            <a:off x="228600" y="1033272"/>
            <a:ext cx="8686800" cy="502920"/>
          </a:xfrm>
          <a:prstGeom prst="rect">
            <a:avLst/>
          </a:prstGeom>
          <a:noFill/>
        </p:spPr>
        <p:txBody>
          <a:bodyPr wrap="square" lIns="1051560" tIns="27432" rIns="1051560" bIns="27432">
            <a:spAutoFit/>
          </a:bodyPr>
          <a:lstStyle/>
          <a:p>
            <a:pPr algn="l"/>
            <a:r>
              <a:rPr sz="1200" b="1" i="0">
                <a:solidFill>
                  <a:srgbClr val="2D3A4A"/>
                </a:solidFill>
              </a:rPr>
              <a:t>【9】根据《建筑法》，某施工企业以欺骗手段取得资质证书，其法律后果是（  ）。</a:t>
            </a:r>
          </a:p>
        </p:txBody>
      </p:sp>
      <p:sp>
        <p:nvSpPr>
          <p:cNvPr id="10" name="TextBox 9"/>
          <p:cNvSpPr txBox="1"/>
          <p:nvPr/>
        </p:nvSpPr>
        <p:spPr>
          <a:xfrm>
            <a:off x="320040" y="1536192"/>
            <a:ext cx="8412480" cy="548640"/>
          </a:xfrm>
          <a:prstGeom prst="rect">
            <a:avLst/>
          </a:prstGeom>
          <a:noFill/>
        </p:spPr>
        <p:txBody>
          <a:bodyPr wrap="square" lIns="45720" tIns="27432" rIns="45720" bIns="27432">
            <a:spAutoFit/>
          </a:bodyPr>
          <a:lstStyle/>
          <a:p>
            <a:pPr algn="l"/>
            <a:r>
              <a:rPr sz="1100" b="0" i="0">
                <a:solidFill>
                  <a:srgbClr val="2D3A4A"/>
                </a:solidFill>
              </a:rPr>
              <a:t>A. 警告并限期整改    B. 撤销资质证书
    C. 暂停施工1~3年    D. 吊销营业执照</a:t>
            </a:r>
          </a:p>
        </p:txBody>
      </p:sp>
      <p:sp>
        <p:nvSpPr>
          <p:cNvPr id="11" name="Rectangle 10"/>
          <p:cNvSpPr/>
          <p:nvPr/>
        </p:nvSpPr>
        <p:spPr>
          <a:xfrm>
            <a:off x="228600" y="21031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21031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2121408"/>
            <a:ext cx="8412480" cy="475488"/>
          </a:xfrm>
          <a:prstGeom prst="rect">
            <a:avLst/>
          </a:prstGeom>
          <a:noFill/>
        </p:spPr>
        <p:txBody>
          <a:bodyPr wrap="square" lIns="45720" tIns="27432" rIns="45720" bIns="27432">
            <a:spAutoFit/>
          </a:bodyPr>
          <a:lstStyle/>
          <a:p>
            <a:pPr algn="l"/>
            <a:r>
              <a:rPr sz="1100" b="0" i="0">
                <a:solidFill>
                  <a:srgbClr val="145A2E"/>
                </a:solidFill>
              </a:rPr>
              <a:t>✔ 答案：B　　以欺骗手段取得资质证书的，由发证机关撤销资质证书。注意：撤销（行政行为不当）与吊销（违法行为）的区别。</a:t>
            </a:r>
          </a:p>
        </p:txBody>
      </p:sp>
      <p:sp>
        <p:nvSpPr>
          <p:cNvPr id="14" name="Rectangle 13"/>
          <p:cNvSpPr/>
          <p:nvPr/>
        </p:nvSpPr>
        <p:spPr>
          <a:xfrm>
            <a:off x="228600" y="2816352"/>
            <a:ext cx="8686800" cy="457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 y="2862072"/>
            <a:ext cx="1005840" cy="2743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 y="2862072"/>
            <a:ext cx="987552" cy="274320"/>
          </a:xfrm>
          <a:prstGeom prst="rect">
            <a:avLst/>
          </a:prstGeom>
          <a:noFill/>
        </p:spPr>
        <p:txBody>
          <a:bodyPr wrap="square" lIns="45720" tIns="27432" rIns="45720" bIns="27432">
            <a:spAutoFit/>
          </a:bodyPr>
          <a:lstStyle/>
          <a:p>
            <a:pPr algn="ctr"/>
            <a:r>
              <a:rPr sz="1000" b="1" i="0">
                <a:solidFill>
                  <a:srgbClr val="FFFFFF"/>
                </a:solidFill>
              </a:rPr>
              <a:t>2022 多选</a:t>
            </a:r>
          </a:p>
        </p:txBody>
      </p:sp>
      <p:sp>
        <p:nvSpPr>
          <p:cNvPr id="17" name="TextBox 16"/>
          <p:cNvSpPr txBox="1"/>
          <p:nvPr/>
        </p:nvSpPr>
        <p:spPr>
          <a:xfrm>
            <a:off x="228600" y="2862072"/>
            <a:ext cx="8686800" cy="502920"/>
          </a:xfrm>
          <a:prstGeom prst="rect">
            <a:avLst/>
          </a:prstGeom>
          <a:noFill/>
        </p:spPr>
        <p:txBody>
          <a:bodyPr wrap="square" lIns="1051560" tIns="27432" rIns="1051560" bIns="27432">
            <a:spAutoFit/>
          </a:bodyPr>
          <a:lstStyle/>
          <a:p>
            <a:pPr algn="l"/>
            <a:r>
              <a:rPr sz="1200" b="1" i="0">
                <a:solidFill>
                  <a:srgbClr val="2D3A4A"/>
                </a:solidFill>
              </a:rPr>
              <a:t>【10】根据《建筑法》，注册建造师不予注册的情形包括（  ）。</a:t>
            </a:r>
          </a:p>
        </p:txBody>
      </p:sp>
      <p:sp>
        <p:nvSpPr>
          <p:cNvPr id="18" name="TextBox 17"/>
          <p:cNvSpPr txBox="1"/>
          <p:nvPr/>
        </p:nvSpPr>
        <p:spPr>
          <a:xfrm>
            <a:off x="320040" y="3364992"/>
            <a:ext cx="8412480" cy="548640"/>
          </a:xfrm>
          <a:prstGeom prst="rect">
            <a:avLst/>
          </a:prstGeom>
          <a:noFill/>
        </p:spPr>
        <p:txBody>
          <a:bodyPr wrap="square" lIns="45720" tIns="27432" rIns="45720" bIns="27432">
            <a:spAutoFit/>
          </a:bodyPr>
          <a:lstStyle/>
          <a:p>
            <a:pPr algn="l"/>
            <a:r>
              <a:rPr sz="1100" b="0" i="0">
                <a:solidFill>
                  <a:srgbClr val="2D3A4A"/>
                </a:solidFill>
              </a:rPr>
              <a:t>A. 不具有完全民事行为能力    B. 在两个及以上单位申请注册
    C. 受到刑事处罚且执行完毕不足5年    D. 被吊销注册证书不足5年    E. 年龄超过65周岁</a:t>
            </a:r>
          </a:p>
        </p:txBody>
      </p:sp>
      <p:sp>
        <p:nvSpPr>
          <p:cNvPr id="19" name="Rectangle 18"/>
          <p:cNvSpPr/>
          <p:nvPr/>
        </p:nvSpPr>
        <p:spPr>
          <a:xfrm>
            <a:off x="228600" y="39319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39319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3950208"/>
            <a:ext cx="8412480" cy="475488"/>
          </a:xfrm>
          <a:prstGeom prst="rect">
            <a:avLst/>
          </a:prstGeom>
          <a:noFill/>
        </p:spPr>
        <p:txBody>
          <a:bodyPr wrap="square" lIns="45720" tIns="27432" rIns="45720" bIns="27432">
            <a:spAutoFit/>
          </a:bodyPr>
          <a:lstStyle/>
          <a:p>
            <a:pPr algn="l"/>
            <a:r>
              <a:rPr sz="1100" b="0" i="0">
                <a:solidFill>
                  <a:srgbClr val="145A2E"/>
                </a:solidFill>
              </a:rPr>
              <a:t>✔ 答案：ABCDE　　以上均为不予注册的情形。其中A、B、C、D、E五项全部正确，务必全部记忆。</a:t>
            </a:r>
          </a:p>
        </p:txBody>
      </p:sp>
      <p:sp>
        <p:nvSpPr>
          <p:cNvPr id="22" name="Rectangle 21"/>
          <p:cNvSpPr/>
          <p:nvPr/>
        </p:nvSpPr>
        <p:spPr>
          <a:xfrm>
            <a:off x="0" y="4937760"/>
            <a:ext cx="9144000" cy="20574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46904"/>
            <a:ext cx="8595360" cy="201168"/>
          </a:xfrm>
          <a:prstGeom prst="rect">
            <a:avLst/>
          </a:prstGeom>
          <a:noFill/>
        </p:spPr>
        <p:txBody>
          <a:bodyPr wrap="square" lIns="45720" tIns="27432" rIns="45720" bIns="27432">
            <a:spAutoFit/>
          </a:bodyPr>
          <a:lstStyle/>
          <a:p>
            <a:pPr algn="ctr"/>
            <a:r>
              <a:rPr sz="1100" b="1" i="0">
                <a:solidFill>
                  <a:srgbClr val="8B4000"/>
                </a:solidFill>
              </a:rPr>
              <a:t>🔥 真题是最好的考点指南，建议反复练习！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3D1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6400800" cy="384048"/>
          </a:xfrm>
          <a:prstGeom prst="rect">
            <a:avLst/>
          </a:prstGeom>
          <a:noFill/>
        </p:spPr>
        <p:txBody>
          <a:bodyPr wrap="square" lIns="45720" tIns="27432" rIns="45720" bIns="27432">
            <a:spAutoFit/>
          </a:bodyPr>
          <a:lstStyle/>
          <a:p>
            <a:pPr algn="l"/>
            <a:r>
              <a:rPr sz="2000" b="1" i="0">
                <a:solidFill>
                  <a:srgbClr val="FFFFFF"/>
                </a:solidFill>
              </a:rPr>
              <a:t>📝 历年真题精选</a:t>
            </a:r>
          </a:p>
        </p:txBody>
      </p:sp>
      <p:sp>
        <p:nvSpPr>
          <p:cNvPr id="5" name="TextBox 4"/>
          <p:cNvSpPr txBox="1"/>
          <p:nvPr/>
        </p:nvSpPr>
        <p:spPr>
          <a:xfrm>
            <a:off x="365760" y="548640"/>
            <a:ext cx="8229600" cy="292608"/>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28600" y="987552"/>
            <a:ext cx="8686800" cy="45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033272"/>
            <a:ext cx="100584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 y="1033272"/>
            <a:ext cx="987552" cy="274320"/>
          </a:xfrm>
          <a:prstGeom prst="rect">
            <a:avLst/>
          </a:prstGeom>
          <a:noFill/>
        </p:spPr>
        <p:txBody>
          <a:bodyPr wrap="square" lIns="45720" tIns="27432" rIns="45720" bIns="27432">
            <a:spAutoFit/>
          </a:bodyPr>
          <a:lstStyle/>
          <a:p>
            <a:pPr algn="ctr"/>
            <a:r>
              <a:rPr sz="1000" b="1" i="0">
                <a:solidFill>
                  <a:srgbClr val="FFFFFF"/>
                </a:solidFill>
              </a:rPr>
              <a:t>2021 单选</a:t>
            </a:r>
          </a:p>
        </p:txBody>
      </p:sp>
      <p:sp>
        <p:nvSpPr>
          <p:cNvPr id="9" name="TextBox 8"/>
          <p:cNvSpPr txBox="1"/>
          <p:nvPr/>
        </p:nvSpPr>
        <p:spPr>
          <a:xfrm>
            <a:off x="228600" y="1033272"/>
            <a:ext cx="8686800" cy="502920"/>
          </a:xfrm>
          <a:prstGeom prst="rect">
            <a:avLst/>
          </a:prstGeom>
          <a:noFill/>
        </p:spPr>
        <p:txBody>
          <a:bodyPr wrap="square" lIns="1051560" tIns="27432" rIns="1051560" bIns="27432">
            <a:spAutoFit/>
          </a:bodyPr>
          <a:lstStyle/>
          <a:p>
            <a:pPr algn="l"/>
            <a:r>
              <a:rPr sz="1200" b="1" i="0">
                <a:solidFill>
                  <a:srgbClr val="2D3A4A"/>
                </a:solidFill>
              </a:rPr>
              <a:t>【11】下列关于施工许可证的说法，正确的是（  ）。</a:t>
            </a:r>
          </a:p>
        </p:txBody>
      </p:sp>
      <p:sp>
        <p:nvSpPr>
          <p:cNvPr id="10" name="TextBox 9"/>
          <p:cNvSpPr txBox="1"/>
          <p:nvPr/>
        </p:nvSpPr>
        <p:spPr>
          <a:xfrm>
            <a:off x="320040" y="1536192"/>
            <a:ext cx="8412480" cy="548640"/>
          </a:xfrm>
          <a:prstGeom prst="rect">
            <a:avLst/>
          </a:prstGeom>
          <a:noFill/>
        </p:spPr>
        <p:txBody>
          <a:bodyPr wrap="square" lIns="45720" tIns="27432" rIns="45720" bIns="27432">
            <a:spAutoFit/>
          </a:bodyPr>
          <a:lstStyle/>
          <a:p>
            <a:pPr algn="l"/>
            <a:r>
              <a:rPr sz="1100" b="0" i="0">
                <a:solidFill>
                  <a:srgbClr val="2D3A4A"/>
                </a:solidFill>
              </a:rPr>
              <a:t>A. 施工许可证获批后1个月内须开工    B. 可申请无限次延期
    C. 中止施工满1年的，发证机关可以注销施工许可证    D. 施工许可证一经发出不得撤销</a:t>
            </a:r>
          </a:p>
        </p:txBody>
      </p:sp>
      <p:sp>
        <p:nvSpPr>
          <p:cNvPr id="11" name="Rectangle 10"/>
          <p:cNvSpPr/>
          <p:nvPr/>
        </p:nvSpPr>
        <p:spPr>
          <a:xfrm>
            <a:off x="228600" y="21031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21031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2121408"/>
            <a:ext cx="8412480" cy="475488"/>
          </a:xfrm>
          <a:prstGeom prst="rect">
            <a:avLst/>
          </a:prstGeom>
          <a:noFill/>
        </p:spPr>
        <p:txBody>
          <a:bodyPr wrap="square" lIns="45720" tIns="27432" rIns="45720" bIns="27432">
            <a:spAutoFit/>
          </a:bodyPr>
          <a:lstStyle/>
          <a:p>
            <a:pPr algn="l"/>
            <a:r>
              <a:rPr sz="1100" b="0" i="0">
                <a:solidFill>
                  <a:srgbClr val="145A2E"/>
                </a:solidFill>
              </a:rPr>
              <a:t>✔ 答案：C　　C正确：中止施工满1年，发证机关可以注销。A错误：是3个月内开工。B错误：最多延期2次。D错误：违规可以撤销。</a:t>
            </a:r>
          </a:p>
        </p:txBody>
      </p:sp>
      <p:sp>
        <p:nvSpPr>
          <p:cNvPr id="14" name="Rectangle 13"/>
          <p:cNvSpPr/>
          <p:nvPr/>
        </p:nvSpPr>
        <p:spPr>
          <a:xfrm>
            <a:off x="228600" y="2816352"/>
            <a:ext cx="8686800" cy="45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 y="2862072"/>
            <a:ext cx="100584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 y="2862072"/>
            <a:ext cx="987552" cy="274320"/>
          </a:xfrm>
          <a:prstGeom prst="rect">
            <a:avLst/>
          </a:prstGeom>
          <a:noFill/>
        </p:spPr>
        <p:txBody>
          <a:bodyPr wrap="square" lIns="45720" tIns="27432" rIns="45720" bIns="27432">
            <a:spAutoFit/>
          </a:bodyPr>
          <a:lstStyle/>
          <a:p>
            <a:pPr algn="ctr"/>
            <a:r>
              <a:rPr sz="1000" b="1" i="0">
                <a:solidFill>
                  <a:srgbClr val="FFFFFF"/>
                </a:solidFill>
              </a:rPr>
              <a:t>2021 单选</a:t>
            </a:r>
          </a:p>
        </p:txBody>
      </p:sp>
      <p:sp>
        <p:nvSpPr>
          <p:cNvPr id="17" name="TextBox 16"/>
          <p:cNvSpPr txBox="1"/>
          <p:nvPr/>
        </p:nvSpPr>
        <p:spPr>
          <a:xfrm>
            <a:off x="228600" y="2862072"/>
            <a:ext cx="8686800" cy="502920"/>
          </a:xfrm>
          <a:prstGeom prst="rect">
            <a:avLst/>
          </a:prstGeom>
          <a:noFill/>
        </p:spPr>
        <p:txBody>
          <a:bodyPr wrap="square" lIns="1051560" tIns="27432" rIns="1051560" bIns="27432">
            <a:spAutoFit/>
          </a:bodyPr>
          <a:lstStyle/>
          <a:p>
            <a:pPr algn="l"/>
            <a:r>
              <a:rPr sz="1200" b="1" i="0">
                <a:solidFill>
                  <a:srgbClr val="2D3A4A"/>
                </a:solidFill>
              </a:rPr>
              <a:t>【12】根据《建筑法》，未依法取得施工许可证擅自施工的，应被责令停止施工，同时处以罚款的金额为（  ）万元。</a:t>
            </a:r>
          </a:p>
        </p:txBody>
      </p:sp>
      <p:sp>
        <p:nvSpPr>
          <p:cNvPr id="18" name="TextBox 17"/>
          <p:cNvSpPr txBox="1"/>
          <p:nvPr/>
        </p:nvSpPr>
        <p:spPr>
          <a:xfrm>
            <a:off x="320040" y="3364992"/>
            <a:ext cx="8412480" cy="548640"/>
          </a:xfrm>
          <a:prstGeom prst="rect">
            <a:avLst/>
          </a:prstGeom>
          <a:noFill/>
        </p:spPr>
        <p:txBody>
          <a:bodyPr wrap="square" lIns="45720" tIns="27432" rIns="45720" bIns="27432">
            <a:spAutoFit/>
          </a:bodyPr>
          <a:lstStyle/>
          <a:p>
            <a:pPr algn="l"/>
            <a:r>
              <a:rPr sz="1100" b="0" i="0">
                <a:solidFill>
                  <a:srgbClr val="2D3A4A"/>
                </a:solidFill>
              </a:rPr>
              <a:t>A. 0.5~1    B. 1~3
    C. 3~5    D. 5~10</a:t>
            </a:r>
          </a:p>
        </p:txBody>
      </p:sp>
      <p:sp>
        <p:nvSpPr>
          <p:cNvPr id="19" name="Rectangle 18"/>
          <p:cNvSpPr/>
          <p:nvPr/>
        </p:nvSpPr>
        <p:spPr>
          <a:xfrm>
            <a:off x="228600" y="39319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39319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3950208"/>
            <a:ext cx="8412480" cy="475488"/>
          </a:xfrm>
          <a:prstGeom prst="rect">
            <a:avLst/>
          </a:prstGeom>
          <a:noFill/>
        </p:spPr>
        <p:txBody>
          <a:bodyPr wrap="square" lIns="45720" tIns="27432" rIns="45720" bIns="27432">
            <a:spAutoFit/>
          </a:bodyPr>
          <a:lstStyle/>
          <a:p>
            <a:pPr algn="l"/>
            <a:r>
              <a:rPr sz="1100" b="0" i="0">
                <a:solidFill>
                  <a:srgbClr val="145A2E"/>
                </a:solidFill>
              </a:rPr>
              <a:t>✔ 答案：B　　未依法取得施工许可证擅自施工的：责令停止施工，限期改正，处以1万元以上3万元以下的罚款。</a:t>
            </a:r>
          </a:p>
        </p:txBody>
      </p:sp>
      <p:sp>
        <p:nvSpPr>
          <p:cNvPr id="22" name="Rectangle 21"/>
          <p:cNvSpPr/>
          <p:nvPr/>
        </p:nvSpPr>
        <p:spPr>
          <a:xfrm>
            <a:off x="0" y="4937760"/>
            <a:ext cx="9144000" cy="20574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46904"/>
            <a:ext cx="8595360" cy="201168"/>
          </a:xfrm>
          <a:prstGeom prst="rect">
            <a:avLst/>
          </a:prstGeom>
          <a:noFill/>
        </p:spPr>
        <p:txBody>
          <a:bodyPr wrap="square" lIns="45720" tIns="27432" rIns="45720" bIns="27432">
            <a:spAutoFit/>
          </a:bodyPr>
          <a:lstStyle/>
          <a:p>
            <a:pPr algn="ctr"/>
            <a:r>
              <a:rPr sz="1100" b="1" i="0">
                <a:solidFill>
                  <a:srgbClr val="8B4000"/>
                </a:solidFill>
              </a:rPr>
              <a:t>🔥 真题是最好的考点指南，建议反复练习！</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3D1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6400800" cy="384048"/>
          </a:xfrm>
          <a:prstGeom prst="rect">
            <a:avLst/>
          </a:prstGeom>
          <a:noFill/>
        </p:spPr>
        <p:txBody>
          <a:bodyPr wrap="square" lIns="45720" tIns="27432" rIns="45720" bIns="27432">
            <a:spAutoFit/>
          </a:bodyPr>
          <a:lstStyle/>
          <a:p>
            <a:pPr algn="l"/>
            <a:r>
              <a:rPr sz="2000" b="1" i="0">
                <a:solidFill>
                  <a:srgbClr val="FFFFFF"/>
                </a:solidFill>
              </a:rPr>
              <a:t>📝 历年真题精选</a:t>
            </a:r>
          </a:p>
        </p:txBody>
      </p:sp>
      <p:sp>
        <p:nvSpPr>
          <p:cNvPr id="5" name="TextBox 4"/>
          <p:cNvSpPr txBox="1"/>
          <p:nvPr/>
        </p:nvSpPr>
        <p:spPr>
          <a:xfrm>
            <a:off x="365760" y="548640"/>
            <a:ext cx="8229600" cy="292608"/>
          </a:xfrm>
          <a:prstGeom prst="rect">
            <a:avLst/>
          </a:prstGeom>
          <a:noFill/>
        </p:spPr>
        <p:txBody>
          <a:bodyPr wrap="square" lIns="45720" tIns="27432" rIns="45720" bIns="27432">
            <a:spAutoFit/>
          </a:bodyPr>
          <a:lstStyle/>
          <a:p>
            <a:pPr algn="l"/>
            <a:r>
              <a:rPr sz="1100" b="0" i="0">
                <a:solidFill>
                  <a:srgbClr val="E8ECF2"/>
                </a:solidFill>
              </a:rPr>
              <a:t>施工许可法律制度</a:t>
            </a:r>
          </a:p>
        </p:txBody>
      </p:sp>
      <p:sp>
        <p:nvSpPr>
          <p:cNvPr id="6" name="Rectangle 5"/>
          <p:cNvSpPr/>
          <p:nvPr/>
        </p:nvSpPr>
        <p:spPr>
          <a:xfrm>
            <a:off x="228600" y="987552"/>
            <a:ext cx="8686800" cy="457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033272"/>
            <a:ext cx="1005840" cy="2743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 y="1033272"/>
            <a:ext cx="987552" cy="274320"/>
          </a:xfrm>
          <a:prstGeom prst="rect">
            <a:avLst/>
          </a:prstGeom>
          <a:noFill/>
        </p:spPr>
        <p:txBody>
          <a:bodyPr wrap="square" lIns="45720" tIns="27432" rIns="45720" bIns="27432">
            <a:spAutoFit/>
          </a:bodyPr>
          <a:lstStyle/>
          <a:p>
            <a:pPr algn="ctr"/>
            <a:r>
              <a:rPr sz="1000" b="1" i="0">
                <a:solidFill>
                  <a:srgbClr val="FFFFFF"/>
                </a:solidFill>
              </a:rPr>
              <a:t>2021 多选</a:t>
            </a:r>
          </a:p>
        </p:txBody>
      </p:sp>
      <p:sp>
        <p:nvSpPr>
          <p:cNvPr id="9" name="TextBox 8"/>
          <p:cNvSpPr txBox="1"/>
          <p:nvPr/>
        </p:nvSpPr>
        <p:spPr>
          <a:xfrm>
            <a:off x="228600" y="1033272"/>
            <a:ext cx="8686800" cy="502920"/>
          </a:xfrm>
          <a:prstGeom prst="rect">
            <a:avLst/>
          </a:prstGeom>
          <a:noFill/>
        </p:spPr>
        <p:txBody>
          <a:bodyPr wrap="square" lIns="1051560" tIns="27432" rIns="1051560" bIns="27432">
            <a:spAutoFit/>
          </a:bodyPr>
          <a:lstStyle/>
          <a:p>
            <a:pPr algn="l"/>
            <a:r>
              <a:rPr sz="1200" b="1" i="0">
                <a:solidFill>
                  <a:srgbClr val="2D3A4A"/>
                </a:solidFill>
              </a:rPr>
              <a:t>【13】根据《建筑法》，下列情形中，不需要申请施工许可证的有（  ）。</a:t>
            </a:r>
          </a:p>
        </p:txBody>
      </p:sp>
      <p:sp>
        <p:nvSpPr>
          <p:cNvPr id="10" name="TextBox 9"/>
          <p:cNvSpPr txBox="1"/>
          <p:nvPr/>
        </p:nvSpPr>
        <p:spPr>
          <a:xfrm>
            <a:off x="320040" y="1536192"/>
            <a:ext cx="8412480" cy="548640"/>
          </a:xfrm>
          <a:prstGeom prst="rect">
            <a:avLst/>
          </a:prstGeom>
          <a:noFill/>
        </p:spPr>
        <p:txBody>
          <a:bodyPr wrap="square" lIns="45720" tIns="27432" rIns="45720" bIns="27432">
            <a:spAutoFit/>
          </a:bodyPr>
          <a:lstStyle/>
          <a:p>
            <a:pPr algn="l"/>
            <a:r>
              <a:rPr sz="1100" b="0" i="0">
                <a:solidFill>
                  <a:srgbClr val="2D3A4A"/>
                </a:solidFill>
              </a:rPr>
              <a:t>A. 抢险救灾工程    B. 临时性建筑工程
    C. 农村自建低层住宅    D. 投资额30万元以下且面积300m²以下的工程    E. 一般住宅小区建设工程</a:t>
            </a:r>
          </a:p>
        </p:txBody>
      </p:sp>
      <p:sp>
        <p:nvSpPr>
          <p:cNvPr id="11" name="Rectangle 10"/>
          <p:cNvSpPr/>
          <p:nvPr/>
        </p:nvSpPr>
        <p:spPr>
          <a:xfrm>
            <a:off x="228600" y="21031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21031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2121408"/>
            <a:ext cx="8412480" cy="475488"/>
          </a:xfrm>
          <a:prstGeom prst="rect">
            <a:avLst/>
          </a:prstGeom>
          <a:noFill/>
        </p:spPr>
        <p:txBody>
          <a:bodyPr wrap="square" lIns="45720" tIns="27432" rIns="45720" bIns="27432">
            <a:spAutoFit/>
          </a:bodyPr>
          <a:lstStyle/>
          <a:p>
            <a:pPr algn="l"/>
            <a:r>
              <a:rPr sz="1100" b="0" i="0">
                <a:solidFill>
                  <a:srgbClr val="145A2E"/>
                </a:solidFill>
              </a:rPr>
              <a:t>✔ 答案：ABCD　　E错误，住宅小区属于一般建筑工程，必须办理施工许可证。A抢险救灾、B临时建筑、C农村自建低层住宅、D小规模工程（投资30万以下或面积300m²以下）均不需要办理。</a:t>
            </a:r>
          </a:p>
        </p:txBody>
      </p:sp>
      <p:sp>
        <p:nvSpPr>
          <p:cNvPr id="14" name="Rectangle 13"/>
          <p:cNvSpPr/>
          <p:nvPr/>
        </p:nvSpPr>
        <p:spPr>
          <a:xfrm>
            <a:off x="228600" y="2816352"/>
            <a:ext cx="8686800" cy="45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 y="2862072"/>
            <a:ext cx="100584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 y="2862072"/>
            <a:ext cx="987552" cy="274320"/>
          </a:xfrm>
          <a:prstGeom prst="rect">
            <a:avLst/>
          </a:prstGeom>
          <a:noFill/>
        </p:spPr>
        <p:txBody>
          <a:bodyPr wrap="square" lIns="45720" tIns="27432" rIns="45720" bIns="27432">
            <a:spAutoFit/>
          </a:bodyPr>
          <a:lstStyle/>
          <a:p>
            <a:pPr algn="ctr"/>
            <a:r>
              <a:rPr sz="1000" b="1" i="0">
                <a:solidFill>
                  <a:srgbClr val="FFFFFF"/>
                </a:solidFill>
              </a:rPr>
              <a:t>2021 单选</a:t>
            </a:r>
          </a:p>
        </p:txBody>
      </p:sp>
      <p:sp>
        <p:nvSpPr>
          <p:cNvPr id="17" name="TextBox 16"/>
          <p:cNvSpPr txBox="1"/>
          <p:nvPr/>
        </p:nvSpPr>
        <p:spPr>
          <a:xfrm>
            <a:off x="228600" y="2862072"/>
            <a:ext cx="8686800" cy="502920"/>
          </a:xfrm>
          <a:prstGeom prst="rect">
            <a:avLst/>
          </a:prstGeom>
          <a:noFill/>
        </p:spPr>
        <p:txBody>
          <a:bodyPr wrap="square" lIns="1051560" tIns="27432" rIns="1051560" bIns="27432">
            <a:spAutoFit/>
          </a:bodyPr>
          <a:lstStyle/>
          <a:p>
            <a:pPr algn="l"/>
            <a:r>
              <a:rPr sz="1200" b="1" i="0">
                <a:solidFill>
                  <a:srgbClr val="2D3A4A"/>
                </a:solidFill>
              </a:rPr>
              <a:t>【14】注册建造师执业资格注册的有效期为（  ）年。</a:t>
            </a:r>
          </a:p>
        </p:txBody>
      </p:sp>
      <p:sp>
        <p:nvSpPr>
          <p:cNvPr id="18" name="TextBox 17"/>
          <p:cNvSpPr txBox="1"/>
          <p:nvPr/>
        </p:nvSpPr>
        <p:spPr>
          <a:xfrm>
            <a:off x="320040" y="3364992"/>
            <a:ext cx="8412480" cy="548640"/>
          </a:xfrm>
          <a:prstGeom prst="rect">
            <a:avLst/>
          </a:prstGeom>
          <a:noFill/>
        </p:spPr>
        <p:txBody>
          <a:bodyPr wrap="square" lIns="45720" tIns="27432" rIns="45720" bIns="27432">
            <a:spAutoFit/>
          </a:bodyPr>
          <a:lstStyle/>
          <a:p>
            <a:pPr algn="l"/>
            <a:r>
              <a:rPr sz="1100" b="0" i="0">
                <a:solidFill>
                  <a:srgbClr val="2D3A4A"/>
                </a:solidFill>
              </a:rPr>
              <a:t>A. 1    B. 2
    C. 3    D. 5</a:t>
            </a:r>
          </a:p>
        </p:txBody>
      </p:sp>
      <p:sp>
        <p:nvSpPr>
          <p:cNvPr id="19" name="Rectangle 18"/>
          <p:cNvSpPr/>
          <p:nvPr/>
        </p:nvSpPr>
        <p:spPr>
          <a:xfrm>
            <a:off x="228600" y="39319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39319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3950208"/>
            <a:ext cx="8412480" cy="475488"/>
          </a:xfrm>
          <a:prstGeom prst="rect">
            <a:avLst/>
          </a:prstGeom>
          <a:noFill/>
        </p:spPr>
        <p:txBody>
          <a:bodyPr wrap="square" lIns="45720" tIns="27432" rIns="45720" bIns="27432">
            <a:spAutoFit/>
          </a:bodyPr>
          <a:lstStyle/>
          <a:p>
            <a:pPr algn="l"/>
            <a:r>
              <a:rPr sz="1100" b="0" i="0">
                <a:solidFill>
                  <a:srgbClr val="145A2E"/>
                </a:solidFill>
              </a:rPr>
              <a:t>✔ 答案：C　　注册建造师注册有效期为3年，有效期届满需继续执业的须申请延续注册（续注）。</a:t>
            </a:r>
          </a:p>
        </p:txBody>
      </p:sp>
      <p:sp>
        <p:nvSpPr>
          <p:cNvPr id="22" name="Rectangle 21"/>
          <p:cNvSpPr/>
          <p:nvPr/>
        </p:nvSpPr>
        <p:spPr>
          <a:xfrm>
            <a:off x="0" y="4937760"/>
            <a:ext cx="9144000" cy="20574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46904"/>
            <a:ext cx="8595360" cy="201168"/>
          </a:xfrm>
          <a:prstGeom prst="rect">
            <a:avLst/>
          </a:prstGeom>
          <a:noFill/>
        </p:spPr>
        <p:txBody>
          <a:bodyPr wrap="square" lIns="45720" tIns="27432" rIns="45720" bIns="27432">
            <a:spAutoFit/>
          </a:bodyPr>
          <a:lstStyle/>
          <a:p>
            <a:pPr algn="ctr"/>
            <a:r>
              <a:rPr sz="1100" b="1" i="0">
                <a:solidFill>
                  <a:srgbClr val="8B4000"/>
                </a:solidFill>
              </a:rPr>
              <a:t>🔥 真题是最好的考点指南，建议反复练习！</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502920"/>
          </a:xfrm>
          <a:prstGeom prst="rect">
            <a:avLst/>
          </a:prstGeom>
          <a:noFill/>
        </p:spPr>
        <p:txBody>
          <a:bodyPr wrap="square" lIns="45720" tIns="27432" rIns="45720" bIns="27432">
            <a:spAutoFit/>
          </a:bodyPr>
          <a:lstStyle/>
          <a:p>
            <a:pPr algn="ctr"/>
            <a:r>
              <a:rPr sz="2600" b="1" i="0">
                <a:solidFill>
                  <a:srgbClr val="FFFFFF"/>
                </a:solidFill>
              </a:rPr>
              <a:t>今日学习小结</a:t>
            </a:r>
          </a:p>
        </p:txBody>
      </p:sp>
      <p:sp>
        <p:nvSpPr>
          <p:cNvPr id="4" name="TextBox 3"/>
          <p:cNvSpPr txBox="1"/>
          <p:nvPr/>
        </p:nvSpPr>
        <p:spPr>
          <a:xfrm>
            <a:off x="457200" y="777240"/>
            <a:ext cx="8229600" cy="365760"/>
          </a:xfrm>
          <a:prstGeom prst="rect">
            <a:avLst/>
          </a:prstGeom>
          <a:noFill/>
        </p:spPr>
        <p:txBody>
          <a:bodyPr wrap="square" lIns="45720" tIns="27432" rIns="45720" bIns="27432">
            <a:spAutoFit/>
          </a:bodyPr>
          <a:lstStyle/>
          <a:p>
            <a:pPr algn="ctr"/>
            <a:r>
              <a:rPr sz="1600" b="0" i="0">
                <a:solidFill>
                  <a:srgbClr val="008CD7"/>
                </a:solidFill>
              </a:rPr>
              <a:t>施工许可法律制度</a:t>
            </a:r>
          </a:p>
        </p:txBody>
      </p:sp>
      <p:sp>
        <p:nvSpPr>
          <p:cNvPr id="5" name="Rectangle 4"/>
          <p:cNvSpPr/>
          <p:nvPr/>
        </p:nvSpPr>
        <p:spPr>
          <a:xfrm>
            <a:off x="914400" y="1325880"/>
            <a:ext cx="2194560" cy="1143000"/>
          </a:xfrm>
          <a:prstGeom prst="rect">
            <a:avLst/>
          </a:prstGeom>
          <a:solidFill>
            <a:srgbClr val="2A3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325880"/>
            <a:ext cx="219456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2194560" cy="640080"/>
          </a:xfrm>
          <a:prstGeom prst="rect">
            <a:avLst/>
          </a:prstGeom>
          <a:noFill/>
        </p:spPr>
        <p:txBody>
          <a:bodyPr wrap="square" lIns="45720" tIns="27432" rIns="45720" bIns="27432">
            <a:spAutoFit/>
          </a:bodyPr>
          <a:lstStyle/>
          <a:p>
            <a:pPr algn="ctr"/>
            <a:r>
              <a:rPr sz="3800" b="1" i="0">
                <a:solidFill>
                  <a:srgbClr val="008CD7"/>
                </a:solidFill>
              </a:rPr>
              <a:t>4</a:t>
            </a:r>
          </a:p>
        </p:txBody>
      </p:sp>
      <p:sp>
        <p:nvSpPr>
          <p:cNvPr id="8" name="TextBox 7"/>
          <p:cNvSpPr txBox="1"/>
          <p:nvPr/>
        </p:nvSpPr>
        <p:spPr>
          <a:xfrm>
            <a:off x="914400" y="2057400"/>
            <a:ext cx="2194560" cy="320040"/>
          </a:xfrm>
          <a:prstGeom prst="rect">
            <a:avLst/>
          </a:prstGeom>
          <a:noFill/>
        </p:spPr>
        <p:txBody>
          <a:bodyPr wrap="square" lIns="45720" tIns="27432" rIns="45720" bIns="27432">
            <a:spAutoFit/>
          </a:bodyPr>
          <a:lstStyle/>
          <a:p>
            <a:pPr algn="ctr"/>
            <a:r>
              <a:rPr sz="1400" b="0" i="0">
                <a:solidFill>
                  <a:srgbClr val="E8ECF2"/>
                </a:solidFill>
              </a:rPr>
              <a:t>个考点</a:t>
            </a:r>
          </a:p>
        </p:txBody>
      </p:sp>
      <p:sp>
        <p:nvSpPr>
          <p:cNvPr id="9" name="Rectangle 8"/>
          <p:cNvSpPr/>
          <p:nvPr/>
        </p:nvSpPr>
        <p:spPr>
          <a:xfrm>
            <a:off x="3657600" y="1325880"/>
            <a:ext cx="2194560" cy="1143000"/>
          </a:xfrm>
          <a:prstGeom prst="rect">
            <a:avLst/>
          </a:prstGeom>
          <a:solidFill>
            <a:srgbClr val="2A3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0" y="1325880"/>
            <a:ext cx="219456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463040"/>
            <a:ext cx="2194560" cy="640080"/>
          </a:xfrm>
          <a:prstGeom prst="rect">
            <a:avLst/>
          </a:prstGeom>
          <a:noFill/>
        </p:spPr>
        <p:txBody>
          <a:bodyPr wrap="square" lIns="45720" tIns="27432" rIns="45720" bIns="27432">
            <a:spAutoFit/>
          </a:bodyPr>
          <a:lstStyle/>
          <a:p>
            <a:pPr algn="ctr"/>
            <a:r>
              <a:rPr sz="3800" b="1" i="0">
                <a:solidFill>
                  <a:srgbClr val="FFA500"/>
                </a:solidFill>
              </a:rPr>
              <a:t>14</a:t>
            </a:r>
          </a:p>
        </p:txBody>
      </p:sp>
      <p:sp>
        <p:nvSpPr>
          <p:cNvPr id="12" name="TextBox 11"/>
          <p:cNvSpPr txBox="1"/>
          <p:nvPr/>
        </p:nvSpPr>
        <p:spPr>
          <a:xfrm>
            <a:off x="3657600" y="2057400"/>
            <a:ext cx="2194560" cy="320040"/>
          </a:xfrm>
          <a:prstGeom prst="rect">
            <a:avLst/>
          </a:prstGeom>
          <a:noFill/>
        </p:spPr>
        <p:txBody>
          <a:bodyPr wrap="square" lIns="45720" tIns="27432" rIns="45720" bIns="27432">
            <a:spAutoFit/>
          </a:bodyPr>
          <a:lstStyle/>
          <a:p>
            <a:pPr algn="ctr"/>
            <a:r>
              <a:rPr sz="1400" b="0" i="0">
                <a:solidFill>
                  <a:srgbClr val="E8ECF2"/>
                </a:solidFill>
              </a:rPr>
              <a:t>道真题</a:t>
            </a:r>
          </a:p>
        </p:txBody>
      </p:sp>
      <p:sp>
        <p:nvSpPr>
          <p:cNvPr id="13" name="Rectangle 12"/>
          <p:cNvSpPr/>
          <p:nvPr/>
        </p:nvSpPr>
        <p:spPr>
          <a:xfrm>
            <a:off x="6400800" y="1325880"/>
            <a:ext cx="2194560" cy="1143000"/>
          </a:xfrm>
          <a:prstGeom prst="rect">
            <a:avLst/>
          </a:prstGeom>
          <a:solidFill>
            <a:srgbClr val="2A3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325880"/>
            <a:ext cx="2194560" cy="64008"/>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463040"/>
            <a:ext cx="2194560" cy="640080"/>
          </a:xfrm>
          <a:prstGeom prst="rect">
            <a:avLst/>
          </a:prstGeom>
          <a:noFill/>
        </p:spPr>
        <p:txBody>
          <a:bodyPr wrap="square" lIns="45720" tIns="27432" rIns="45720" bIns="27432">
            <a:spAutoFit/>
          </a:bodyPr>
          <a:lstStyle/>
          <a:p>
            <a:pPr algn="ctr"/>
            <a:r>
              <a:rPr sz="3800" b="1" i="0">
                <a:solidFill>
                  <a:srgbClr val="2E8648"/>
                </a:solidFill>
              </a:rPr>
              <a:t>100</a:t>
            </a:r>
          </a:p>
        </p:txBody>
      </p:sp>
      <p:sp>
        <p:nvSpPr>
          <p:cNvPr id="16" name="TextBox 15"/>
          <p:cNvSpPr txBox="1"/>
          <p:nvPr/>
        </p:nvSpPr>
        <p:spPr>
          <a:xfrm>
            <a:off x="6400800" y="2057400"/>
            <a:ext cx="2194560" cy="320040"/>
          </a:xfrm>
          <a:prstGeom prst="rect">
            <a:avLst/>
          </a:prstGeom>
          <a:noFill/>
        </p:spPr>
        <p:txBody>
          <a:bodyPr wrap="square" lIns="45720" tIns="27432" rIns="45720" bIns="27432">
            <a:spAutoFit/>
          </a:bodyPr>
          <a:lstStyle/>
          <a:p>
            <a:pPr algn="ctr"/>
            <a:r>
              <a:rPr sz="1400" b="0" i="0">
                <a:solidFill>
                  <a:srgbClr val="E8ECF2"/>
                </a:solidFill>
              </a:rPr>
              <a:t>分目标</a:t>
            </a:r>
          </a:p>
        </p:txBody>
      </p:sp>
      <p:sp>
        <p:nvSpPr>
          <p:cNvPr id="17" name="Rectangle 16"/>
          <p:cNvSpPr/>
          <p:nvPr/>
        </p:nvSpPr>
        <p:spPr>
          <a:xfrm>
            <a:off x="457200" y="2651760"/>
            <a:ext cx="8229600" cy="347472"/>
          </a:xfrm>
          <a:prstGeom prst="rect">
            <a:avLst/>
          </a:prstGeom>
          <a:solidFill>
            <a:srgbClr val="283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670048"/>
            <a:ext cx="3657600" cy="310896"/>
          </a:xfrm>
          <a:prstGeom prst="rect">
            <a:avLst/>
          </a:prstGeom>
          <a:noFill/>
        </p:spPr>
        <p:txBody>
          <a:bodyPr wrap="square" lIns="45720" tIns="27432" rIns="45720" bIns="27432">
            <a:spAutoFit/>
          </a:bodyPr>
          <a:lstStyle/>
          <a:p>
            <a:pPr algn="l"/>
            <a:r>
              <a:rPr sz="1400" b="1" i="0">
                <a:solidFill>
                  <a:srgbClr val="FFFFFF"/>
                </a:solidFill>
              </a:rPr>
              <a:t>📋 本章学习要点</a:t>
            </a:r>
          </a:p>
        </p:txBody>
      </p:sp>
      <p:sp>
        <p:nvSpPr>
          <p:cNvPr id="19" name="TextBox 18"/>
          <p:cNvSpPr txBox="1"/>
          <p:nvPr/>
        </p:nvSpPr>
        <p:spPr>
          <a:xfrm>
            <a:off x="640080" y="3063240"/>
            <a:ext cx="7863840" cy="347472"/>
          </a:xfrm>
          <a:prstGeom prst="rect">
            <a:avLst/>
          </a:prstGeom>
          <a:noFill/>
        </p:spPr>
        <p:txBody>
          <a:bodyPr wrap="square" lIns="45720" tIns="27432" rIns="45720" bIns="27432">
            <a:spAutoFit/>
          </a:bodyPr>
          <a:lstStyle/>
          <a:p>
            <a:pPr algn="l"/>
            <a:r>
              <a:rPr sz="1200" b="0" i="0">
                <a:solidFill>
                  <a:srgbClr val="E8ECF2"/>
                </a:solidFill>
              </a:rPr>
              <a:t>✓ 科目：建设工程法规及相关知识</a:t>
            </a:r>
          </a:p>
        </p:txBody>
      </p:sp>
      <p:sp>
        <p:nvSpPr>
          <p:cNvPr id="20" name="TextBox 19"/>
          <p:cNvSpPr txBox="1"/>
          <p:nvPr/>
        </p:nvSpPr>
        <p:spPr>
          <a:xfrm>
            <a:off x="640080" y="3392424"/>
            <a:ext cx="7863840" cy="347472"/>
          </a:xfrm>
          <a:prstGeom prst="rect">
            <a:avLst/>
          </a:prstGeom>
          <a:noFill/>
        </p:spPr>
        <p:txBody>
          <a:bodyPr wrap="square" lIns="45720" tIns="27432" rIns="45720" bIns="27432">
            <a:spAutoFit/>
          </a:bodyPr>
          <a:lstStyle/>
          <a:p>
            <a:pPr algn="l"/>
            <a:r>
              <a:rPr sz="1200" b="0" i="0">
                <a:solidFill>
                  <a:srgbClr val="E8ECF2"/>
                </a:solidFill>
              </a:rPr>
              <a:t>✓ 章节：施工许可法律制度</a:t>
            </a:r>
          </a:p>
        </p:txBody>
      </p:sp>
      <p:sp>
        <p:nvSpPr>
          <p:cNvPr id="21" name="TextBox 20"/>
          <p:cNvSpPr txBox="1"/>
          <p:nvPr/>
        </p:nvSpPr>
        <p:spPr>
          <a:xfrm>
            <a:off x="640080" y="3721608"/>
            <a:ext cx="7863840" cy="347472"/>
          </a:xfrm>
          <a:prstGeom prst="rect">
            <a:avLst/>
          </a:prstGeom>
          <a:noFill/>
        </p:spPr>
        <p:txBody>
          <a:bodyPr wrap="square" lIns="45720" tIns="27432" rIns="45720" bIns="27432">
            <a:spAutoFit/>
          </a:bodyPr>
          <a:lstStyle/>
          <a:p>
            <a:pPr algn="l"/>
            <a:r>
              <a:rPr sz="1200" b="0" i="0">
                <a:solidFill>
                  <a:srgbClr val="E8ECF2"/>
                </a:solidFill>
              </a:rPr>
              <a:t>✓ 掌握 4 个核心考点，完成 14 道真题练习</a:t>
            </a:r>
          </a:p>
        </p:txBody>
      </p:sp>
      <p:sp>
        <p:nvSpPr>
          <p:cNvPr id="22" name="TextBox 21"/>
          <p:cNvSpPr txBox="1"/>
          <p:nvPr/>
        </p:nvSpPr>
        <p:spPr>
          <a:xfrm>
            <a:off x="640080" y="4050792"/>
            <a:ext cx="7863840" cy="347472"/>
          </a:xfrm>
          <a:prstGeom prst="rect">
            <a:avLst/>
          </a:prstGeom>
          <a:noFill/>
        </p:spPr>
        <p:txBody>
          <a:bodyPr wrap="square" lIns="45720" tIns="27432" rIns="45720" bIns="27432">
            <a:spAutoFit/>
          </a:bodyPr>
          <a:lstStyle/>
          <a:p>
            <a:pPr algn="l"/>
            <a:r>
              <a:rPr sz="1200" b="0" i="0">
                <a:solidFill>
                  <a:srgbClr val="E8ECF2"/>
                </a:solidFill>
              </a:rPr>
              <a:t>✓ 建议：配合教材反复复习，注意与真题对照</a:t>
            </a:r>
          </a:p>
        </p:txBody>
      </p:sp>
      <p:sp>
        <p:nvSpPr>
          <p:cNvPr id="23" name="Rectangle 22"/>
          <p:cNvSpPr/>
          <p:nvPr/>
        </p:nvSpPr>
        <p:spPr>
          <a:xfrm>
            <a:off x="0" y="4663440"/>
            <a:ext cx="9144000" cy="480060"/>
          </a:xfrm>
          <a:prstGeom prst="rect">
            <a:avLst/>
          </a:prstGeom>
          <a:solidFill>
            <a:srgbClr val="16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4690872"/>
            <a:ext cx="8595360" cy="347472"/>
          </a:xfrm>
          <a:prstGeom prst="rect">
            <a:avLst/>
          </a:prstGeom>
          <a:noFill/>
        </p:spPr>
        <p:txBody>
          <a:bodyPr wrap="square" lIns="45720" tIns="27432" rIns="45720" bIns="27432">
            <a:spAutoFit/>
          </a:bodyPr>
          <a:lstStyle/>
          <a:p>
            <a:pPr algn="ctr"/>
            <a:r>
              <a:rPr sz="1200" b="0" i="0">
                <a:solidFill>
                  <a:srgbClr val="E8ECF2"/>
                </a:solidFill>
              </a:rPr>
              <a:t>📊 学习进度：进度：2/39  (5%)     ⏰ 晚上复习时间提醒！</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